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EF8FCD-96C4-4C27-879B-222C89C6C290}" v="4" dt="2026-09-26T14:54:27.0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8568" autoAdjust="0"/>
  </p:normalViewPr>
  <p:slideViewPr>
    <p:cSldViewPr snapToGrid="0">
      <p:cViewPr varScale="1">
        <p:scale>
          <a:sx n="39" d="100"/>
          <a:sy n="39" d="100"/>
        </p:scale>
        <p:origin x="60"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ston Eng Shi Yang" userId="545dae7c-fbfc-4e04-9026-1f535c6681ec" providerId="ADAL" clId="{A8BA3D0F-BED3-47F4-BF82-646A52F80DF4}"/>
    <pc:docChg chg="undo custSel addSld modSld sldOrd">
      <pc:chgData name="Elston Eng Shi Yang" userId="545dae7c-fbfc-4e04-9026-1f535c6681ec" providerId="ADAL" clId="{A8BA3D0F-BED3-47F4-BF82-646A52F80DF4}" dt="2026-09-26T14:59:33.727" v="204" actId="20577"/>
      <pc:docMkLst>
        <pc:docMk/>
      </pc:docMkLst>
      <pc:sldChg chg="modSp mod modNotesTx">
        <pc:chgData name="Elston Eng Shi Yang" userId="545dae7c-fbfc-4e04-9026-1f535c6681ec" providerId="ADAL" clId="{A8BA3D0F-BED3-47F4-BF82-646A52F80DF4}" dt="2026-09-26T14:56:09.951" v="199" actId="20577"/>
        <pc:sldMkLst>
          <pc:docMk/>
          <pc:sldMk cId="1456568683" sldId="256"/>
        </pc:sldMkLst>
        <pc:spChg chg="mod">
          <ac:chgData name="Elston Eng Shi Yang" userId="545dae7c-fbfc-4e04-9026-1f535c6681ec" providerId="ADAL" clId="{A8BA3D0F-BED3-47F4-BF82-646A52F80DF4}" dt="2026-09-23T14:03:10.195" v="57" actId="20577"/>
          <ac:spMkLst>
            <pc:docMk/>
            <pc:sldMk cId="1456568683" sldId="256"/>
            <ac:spMk id="2" creationId="{650252DB-122E-4790-883D-2F8F508CB297}"/>
          </ac:spMkLst>
        </pc:spChg>
        <pc:spChg chg="mod">
          <ac:chgData name="Elston Eng Shi Yang" userId="545dae7c-fbfc-4e04-9026-1f535c6681ec" providerId="ADAL" clId="{A8BA3D0F-BED3-47F4-BF82-646A52F80DF4}" dt="2026-09-23T14:06:31.929" v="80" actId="14100"/>
          <ac:spMkLst>
            <pc:docMk/>
            <pc:sldMk cId="1456568683" sldId="256"/>
            <ac:spMk id="8" creationId="{CE7C73F9-B29D-4312-8942-B97793FEF478}"/>
          </ac:spMkLst>
        </pc:spChg>
      </pc:sldChg>
      <pc:sldChg chg="ord modNotesTx">
        <pc:chgData name="Elston Eng Shi Yang" userId="545dae7c-fbfc-4e04-9026-1f535c6681ec" providerId="ADAL" clId="{A8BA3D0F-BED3-47F4-BF82-646A52F80DF4}" dt="2026-09-26T14:57:39.855" v="201" actId="20577"/>
        <pc:sldMkLst>
          <pc:docMk/>
          <pc:sldMk cId="1172483661" sldId="258"/>
        </pc:sldMkLst>
      </pc:sldChg>
      <pc:sldChg chg="modSp mod">
        <pc:chgData name="Elston Eng Shi Yang" userId="545dae7c-fbfc-4e04-9026-1f535c6681ec" providerId="ADAL" clId="{A8BA3D0F-BED3-47F4-BF82-646A52F80DF4}" dt="2026-09-23T14:05:47.196" v="60" actId="6549"/>
        <pc:sldMkLst>
          <pc:docMk/>
          <pc:sldMk cId="1212388248" sldId="260"/>
        </pc:sldMkLst>
        <pc:spChg chg="mod">
          <ac:chgData name="Elston Eng Shi Yang" userId="545dae7c-fbfc-4e04-9026-1f535c6681ec" providerId="ADAL" clId="{A8BA3D0F-BED3-47F4-BF82-646A52F80DF4}" dt="2026-09-23T14:05:47.196" v="60" actId="6549"/>
          <ac:spMkLst>
            <pc:docMk/>
            <pc:sldMk cId="1212388248" sldId="260"/>
            <ac:spMk id="12" creationId="{71DAFBE6-036B-477A-9F55-411B9F4CC39B}"/>
          </ac:spMkLst>
        </pc:spChg>
      </pc:sldChg>
      <pc:sldChg chg="addSp delSp modSp add mod ord modNotesTx">
        <pc:chgData name="Elston Eng Shi Yang" userId="545dae7c-fbfc-4e04-9026-1f535c6681ec" providerId="ADAL" clId="{A8BA3D0F-BED3-47F4-BF82-646A52F80DF4}" dt="2026-09-26T14:59:33.727" v="204" actId="20577"/>
        <pc:sldMkLst>
          <pc:docMk/>
          <pc:sldMk cId="3127837988" sldId="261"/>
        </pc:sldMkLst>
        <pc:spChg chg="del">
          <ac:chgData name="Elston Eng Shi Yang" userId="545dae7c-fbfc-4e04-9026-1f535c6681ec" providerId="ADAL" clId="{A8BA3D0F-BED3-47F4-BF82-646A52F80DF4}" dt="2026-09-26T14:49:40.342" v="122" actId="478"/>
          <ac:spMkLst>
            <pc:docMk/>
            <pc:sldMk cId="3127837988" sldId="261"/>
            <ac:spMk id="4" creationId="{7E0C97FC-CFBA-0CCE-CE1E-4B1F235F3766}"/>
          </ac:spMkLst>
        </pc:spChg>
        <pc:spChg chg="del">
          <ac:chgData name="Elston Eng Shi Yang" userId="545dae7c-fbfc-4e04-9026-1f535c6681ec" providerId="ADAL" clId="{A8BA3D0F-BED3-47F4-BF82-646A52F80DF4}" dt="2026-09-26T14:49:44.327" v="123" actId="478"/>
          <ac:spMkLst>
            <pc:docMk/>
            <pc:sldMk cId="3127837988" sldId="261"/>
            <ac:spMk id="5" creationId="{EB6742AC-95F2-BC5E-9B51-2F685B6D9F9C}"/>
          </ac:spMkLst>
        </pc:spChg>
        <pc:spChg chg="del">
          <ac:chgData name="Elston Eng Shi Yang" userId="545dae7c-fbfc-4e04-9026-1f535c6681ec" providerId="ADAL" clId="{A8BA3D0F-BED3-47F4-BF82-646A52F80DF4}" dt="2026-09-26T14:49:44.327" v="123" actId="478"/>
          <ac:spMkLst>
            <pc:docMk/>
            <pc:sldMk cId="3127837988" sldId="261"/>
            <ac:spMk id="6" creationId="{5F4A6620-48A5-3566-2A13-AF969DE87007}"/>
          </ac:spMkLst>
        </pc:spChg>
        <pc:spChg chg="del">
          <ac:chgData name="Elston Eng Shi Yang" userId="545dae7c-fbfc-4e04-9026-1f535c6681ec" providerId="ADAL" clId="{A8BA3D0F-BED3-47F4-BF82-646A52F80DF4}" dt="2026-09-26T14:49:44.327" v="123" actId="478"/>
          <ac:spMkLst>
            <pc:docMk/>
            <pc:sldMk cId="3127837988" sldId="261"/>
            <ac:spMk id="7" creationId="{0B9A24B5-3DA6-F72E-A320-F488C3E4819C}"/>
          </ac:spMkLst>
        </pc:spChg>
        <pc:spChg chg="del">
          <ac:chgData name="Elston Eng Shi Yang" userId="545dae7c-fbfc-4e04-9026-1f535c6681ec" providerId="ADAL" clId="{A8BA3D0F-BED3-47F4-BF82-646A52F80DF4}" dt="2026-09-26T14:49:44.327" v="123" actId="478"/>
          <ac:spMkLst>
            <pc:docMk/>
            <pc:sldMk cId="3127837988" sldId="261"/>
            <ac:spMk id="8" creationId="{8F7EAF7A-A54C-7FC1-99A1-BCA5F0EC1167}"/>
          </ac:spMkLst>
        </pc:spChg>
        <pc:spChg chg="del">
          <ac:chgData name="Elston Eng Shi Yang" userId="545dae7c-fbfc-4e04-9026-1f535c6681ec" providerId="ADAL" clId="{A8BA3D0F-BED3-47F4-BF82-646A52F80DF4}" dt="2026-09-26T14:49:44.327" v="123" actId="478"/>
          <ac:spMkLst>
            <pc:docMk/>
            <pc:sldMk cId="3127837988" sldId="261"/>
            <ac:spMk id="9" creationId="{18C93683-D9D6-E0CF-7E67-3DB3454D1732}"/>
          </ac:spMkLst>
        </pc:spChg>
        <pc:spChg chg="del">
          <ac:chgData name="Elston Eng Shi Yang" userId="545dae7c-fbfc-4e04-9026-1f535c6681ec" providerId="ADAL" clId="{A8BA3D0F-BED3-47F4-BF82-646A52F80DF4}" dt="2026-09-26T14:49:44.327" v="123" actId="478"/>
          <ac:spMkLst>
            <pc:docMk/>
            <pc:sldMk cId="3127837988" sldId="261"/>
            <ac:spMk id="10" creationId="{F73286A9-5BC0-D637-2923-6BC94A429DBB}"/>
          </ac:spMkLst>
        </pc:spChg>
        <pc:spChg chg="del">
          <ac:chgData name="Elston Eng Shi Yang" userId="545dae7c-fbfc-4e04-9026-1f535c6681ec" providerId="ADAL" clId="{A8BA3D0F-BED3-47F4-BF82-646A52F80DF4}" dt="2026-09-26T14:49:46.988" v="124" actId="478"/>
          <ac:spMkLst>
            <pc:docMk/>
            <pc:sldMk cId="3127837988" sldId="261"/>
            <ac:spMk id="11" creationId="{072AC0DF-5FD7-8586-B420-322FE737B739}"/>
          </ac:spMkLst>
        </pc:spChg>
        <pc:spChg chg="del">
          <ac:chgData name="Elston Eng Shi Yang" userId="545dae7c-fbfc-4e04-9026-1f535c6681ec" providerId="ADAL" clId="{A8BA3D0F-BED3-47F4-BF82-646A52F80DF4}" dt="2026-09-26T14:49:48.878" v="125" actId="478"/>
          <ac:spMkLst>
            <pc:docMk/>
            <pc:sldMk cId="3127837988" sldId="261"/>
            <ac:spMk id="12" creationId="{BDFE80AD-9EA7-4D48-43BA-11F0A4DD87F9}"/>
          </ac:spMkLst>
        </pc:spChg>
        <pc:spChg chg="del">
          <ac:chgData name="Elston Eng Shi Yang" userId="545dae7c-fbfc-4e04-9026-1f535c6681ec" providerId="ADAL" clId="{A8BA3D0F-BED3-47F4-BF82-646A52F80DF4}" dt="2026-09-26T14:49:51.269" v="126" actId="478"/>
          <ac:spMkLst>
            <pc:docMk/>
            <pc:sldMk cId="3127837988" sldId="261"/>
            <ac:spMk id="13" creationId="{15C07719-D43F-D0D4-9327-BD2E0004E965}"/>
          </ac:spMkLst>
        </pc:spChg>
        <pc:spChg chg="del">
          <ac:chgData name="Elston Eng Shi Yang" userId="545dae7c-fbfc-4e04-9026-1f535c6681ec" providerId="ADAL" clId="{A8BA3D0F-BED3-47F4-BF82-646A52F80DF4}" dt="2026-09-26T14:49:55.811" v="127" actId="478"/>
          <ac:spMkLst>
            <pc:docMk/>
            <pc:sldMk cId="3127837988" sldId="261"/>
            <ac:spMk id="16" creationId="{AA0540EE-9A3E-A3ED-93D7-E7D6B81F5FF0}"/>
          </ac:spMkLst>
        </pc:spChg>
        <pc:spChg chg="del">
          <ac:chgData name="Elston Eng Shi Yang" userId="545dae7c-fbfc-4e04-9026-1f535c6681ec" providerId="ADAL" clId="{A8BA3D0F-BED3-47F4-BF82-646A52F80DF4}" dt="2026-09-26T14:49:58.130" v="128" actId="478"/>
          <ac:spMkLst>
            <pc:docMk/>
            <pc:sldMk cId="3127837988" sldId="261"/>
            <ac:spMk id="17" creationId="{DBFC4000-5A0E-E019-663E-B003C4E78112}"/>
          </ac:spMkLst>
        </pc:spChg>
        <pc:spChg chg="mod">
          <ac:chgData name="Elston Eng Shi Yang" userId="545dae7c-fbfc-4e04-9026-1f535c6681ec" providerId="ADAL" clId="{A8BA3D0F-BED3-47F4-BF82-646A52F80DF4}" dt="2026-09-26T14:49:34.637" v="121" actId="20577"/>
          <ac:spMkLst>
            <pc:docMk/>
            <pc:sldMk cId="3127837988" sldId="261"/>
            <ac:spMk id="18" creationId="{C9FDF7D2-0217-A872-BA4C-CE270FCDB8C6}"/>
          </ac:spMkLst>
        </pc:spChg>
        <pc:graphicFrameChg chg="add del mod modGraphic">
          <ac:chgData name="Elston Eng Shi Yang" userId="545dae7c-fbfc-4e04-9026-1f535c6681ec" providerId="ADAL" clId="{A8BA3D0F-BED3-47F4-BF82-646A52F80DF4}" dt="2026-09-26T14:50:35.629" v="133" actId="478"/>
          <ac:graphicFrameMkLst>
            <pc:docMk/>
            <pc:sldMk cId="3127837988" sldId="261"/>
            <ac:graphicFrameMk id="14" creationId="{059A0C14-3B77-074F-B422-DA3B9F2C7583}"/>
          </ac:graphicFrameMkLst>
        </pc:graphicFrameChg>
        <pc:graphicFrameChg chg="add mod modGraphic">
          <ac:chgData name="Elston Eng Shi Yang" userId="545dae7c-fbfc-4e04-9026-1f535c6681ec" providerId="ADAL" clId="{A8BA3D0F-BED3-47F4-BF82-646A52F80DF4}" dt="2026-09-26T14:51:25.564" v="176" actId="20577"/>
          <ac:graphicFrameMkLst>
            <pc:docMk/>
            <pc:sldMk cId="3127837988" sldId="261"/>
            <ac:graphicFrameMk id="15" creationId="{B7BE8A7B-9199-7606-F533-E6A68E38AA10}"/>
          </ac:graphicFrameMkLst>
        </pc:graphicFrameChg>
        <pc:cxnChg chg="del mod">
          <ac:chgData name="Elston Eng Shi Yang" userId="545dae7c-fbfc-4e04-9026-1f535c6681ec" providerId="ADAL" clId="{A8BA3D0F-BED3-47F4-BF82-646A52F80DF4}" dt="2026-09-26T14:49:44.327" v="123" actId="478"/>
          <ac:cxnSpMkLst>
            <pc:docMk/>
            <pc:sldMk cId="3127837988" sldId="261"/>
            <ac:cxnSpMk id="31" creationId="{3A39F825-7C83-DF71-F441-0DA90A121579}"/>
          </ac:cxnSpMkLst>
        </pc:cxnChg>
        <pc:cxnChg chg="del mod">
          <ac:chgData name="Elston Eng Shi Yang" userId="545dae7c-fbfc-4e04-9026-1f535c6681ec" providerId="ADAL" clId="{A8BA3D0F-BED3-47F4-BF82-646A52F80DF4}" dt="2026-09-26T14:49:44.327" v="123" actId="478"/>
          <ac:cxnSpMkLst>
            <pc:docMk/>
            <pc:sldMk cId="3127837988" sldId="261"/>
            <ac:cxnSpMk id="32" creationId="{72E862CC-8DFF-4109-E032-FD565E64CBF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20 seconds.</a:t>
            </a:r>
          </a:p>
          <a:p>
            <a:endParaRPr dirty="0"/>
          </a:p>
          <a:p>
            <a:r>
              <a:rPr dirty="0"/>
              <a:t>This project studies reinforcement learning for </a:t>
            </a:r>
            <a:r>
              <a:rPr lang="en-SG" dirty="0"/>
              <a:t>the Pick-Nav-Reach</a:t>
            </a:r>
            <a:r>
              <a:rPr dirty="0"/>
              <a:t> task. A wheeled robot arm must pick up a block, carry it through a maze, and place it at a target. I will compare SAC and TD3, both using hindsight experience replay.</a:t>
            </a:r>
          </a:p>
          <a:p>
            <a:endParaRPr lang="en-SG" dirty="0"/>
          </a:p>
          <a:p>
            <a:endParaRPr lang="en-SG" dirty="0"/>
          </a:p>
          <a:p>
            <a:r>
              <a:rPr lang="en-SG" sz="1200" b="1" u="none" strike="noStrike" kern="1200" dirty="0">
                <a:effectLst/>
              </a:rPr>
              <a:t>SAC (Soft Actor-Critic)</a:t>
            </a:r>
            <a:r>
              <a:rPr lang="en-SG" dirty="0"/>
              <a:t> and </a:t>
            </a:r>
            <a:r>
              <a:rPr lang="en-SG" sz="1200" b="1" u="none" strike="noStrike" kern="1200" dirty="0">
                <a:effectLst/>
              </a:rPr>
              <a:t>TD3 (Twin Delayed Deep Deterministic Policy Gradient)</a:t>
            </a:r>
            <a:endParaRPr dirty="0"/>
          </a:p>
          <a:p>
            <a:r>
              <a:rPr dirty="0"/>
              <a:t>Project source: mobile_manipulation_project_guide.md.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55 seconds.</a:t>
            </a:r>
          </a:p>
          <a:p>
            <a:endParaRPr dirty="0"/>
          </a:p>
          <a:p>
            <a:r>
              <a:rPr dirty="0"/>
              <a:t>The environment is a </a:t>
            </a:r>
            <a:r>
              <a:rPr dirty="0" err="1"/>
              <a:t>PyBullet</a:t>
            </a:r>
            <a:r>
              <a:rPr dirty="0"/>
              <a:t> maze with a wheeled arm. The task has three stages: establish a physical grasp and lift the block, navigate while retaining it, then place and release it stably at the target. We use numerical simulator state rather than camera images. The research objective is to compare how efficiently two learning algorithms acquire this </a:t>
            </a:r>
            <a:r>
              <a:rPr dirty="0" err="1"/>
              <a:t>behaviour</a:t>
            </a:r>
            <a:r>
              <a:rPr dirty="0"/>
              <a:t> and how their complete-task performance changes with a gripper modification. The whole sequence must work in one uninterrupted episode.</a:t>
            </a:r>
          </a:p>
          <a:p>
            <a:endParaRPr dirty="0"/>
          </a:p>
          <a:p>
            <a:r>
              <a:rPr dirty="0"/>
              <a:t>Project source: mobile_manipulation_project_guide.md, core task and experimental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80 seconds.</a:t>
            </a:r>
          </a:p>
          <a:p>
            <a:endParaRPr dirty="0"/>
          </a:p>
          <a:p>
            <a:r>
              <a:rPr dirty="0"/>
              <a:t>Both methods learn continuous actions from replayed experience. SAC learns a stochastic policy and includes an entropy term that encourages exploration. TD3 learns a deterministic policy and uses delayed actor updates, along with its other critic-</a:t>
            </a:r>
            <a:r>
              <a:rPr dirty="0" err="1"/>
              <a:t>stabilisation</a:t>
            </a:r>
            <a:r>
              <a:rPr dirty="0"/>
              <a:t> mechanisms. Both use HER. For example, an episode may aim for A but reach B. We retain experience with the original goal and also replay it with B as the goal, recomputing its rewards. This makes failed attempts more useful. Each of the three skills is trained with suitable starting states and curricula. A fixed supervisor switches between them, and low-level controllers translate commands into robot motion. The supervisor itself is not learned.</a:t>
            </a:r>
          </a:p>
          <a:p>
            <a:endParaRPr dirty="0"/>
          </a:p>
          <a:p>
            <a:r>
              <a:rPr dirty="0"/>
              <a:t>References:</a:t>
            </a:r>
          </a:p>
          <a:p>
            <a:r>
              <a:rPr dirty="0" err="1"/>
              <a:t>Andrychowicz</a:t>
            </a:r>
            <a:r>
              <a:rPr dirty="0"/>
              <a:t> et al., Hindsight Experience Replay, </a:t>
            </a:r>
            <a:r>
              <a:rPr dirty="0" err="1"/>
              <a:t>NeurIPS</a:t>
            </a:r>
            <a:r>
              <a:rPr dirty="0"/>
              <a:t> 2017: https://arxiv.org/abs/1707.01495</a:t>
            </a:r>
          </a:p>
          <a:p>
            <a:r>
              <a:rPr dirty="0"/>
              <a:t>SAC implementation: https://stable-baselines3.readthedocs.io/en/master/modules/sac.html</a:t>
            </a:r>
          </a:p>
          <a:p>
            <a:r>
              <a:rPr dirty="0"/>
              <a:t>TD3 implementation: https://stable-baselines3.readthedocs.io/en/master/modules/td3.html</a:t>
            </a:r>
          </a:p>
          <a:p>
            <a:r>
              <a:rPr dirty="0"/>
              <a:t>HER interface: https://stable-baselines3.readthedocs.io/en/master/modules/her.html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55 seconds.</a:t>
            </a:r>
          </a:p>
          <a:p>
            <a:endParaRPr dirty="0"/>
          </a:p>
          <a:p>
            <a:r>
              <a:rPr dirty="0"/>
              <a:t>The core experiment has four conditions: two learners on the original robot and on a modified gripper, keeping the same wheeled base and arm. The exact gripper modification will follow inspection of the supplied assets; a change in finger geometry or a coupled multi-finger gripper would be suitable. Each condition has three independent training seeds, giving twelve complete systems. A system includes all three trained skills. We match the task, assistance and total training-interaction budget, counting training across all skills. This compares algorithms using HER; it does not isolate the effect of HER itself.</a:t>
            </a:r>
          </a:p>
          <a:p>
            <a:endParaRPr dirty="0"/>
          </a:p>
          <a:p>
            <a:r>
              <a:rPr dirty="0"/>
              <a:t>Project source: mobile_manipulation_project_guide.md, learning algorithms and experimental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50 seconds.</a:t>
            </a:r>
          </a:p>
          <a:p>
            <a:endParaRPr dirty="0"/>
          </a:p>
          <a:p>
            <a:r>
              <a:rPr dirty="0"/>
              <a:t>The main measure is complete-task success from the real starting conditions. Success requires an actual lift and transport, followed by release and stable placement. We will also compare learning efficiency using success against total training interactions. A stage-level failure analysis will show whether differences come from grasping, navigation, drops or placement. Final tests use held-out starts and goals, with no resets between skills. We report results for each training seed as well as aggregate performance. The expected outputs are working trained controllers and a reproducible comparison of the four conditions.</a:t>
            </a:r>
          </a:p>
          <a:p>
            <a:endParaRPr dirty="0"/>
          </a:p>
          <a:p>
            <a:r>
              <a:rPr dirty="0"/>
              <a:t>Project source: mobile_manipulation_project_guide.md, experimental protocol and deliverables.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44F92-2115-61F2-BCE6-F748DB16A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9CDBF-62A8-438F-A93D-8B2B276A1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32CF5-B49D-B451-7171-427EF22A8BC9}"/>
              </a:ext>
            </a:extLst>
          </p:cNvPr>
          <p:cNvSpPr>
            <a:spLocks noGrp="1"/>
          </p:cNvSpPr>
          <p:nvPr>
            <p:ph type="body" idx="1"/>
          </p:nvPr>
        </p:nvSpPr>
        <p:spPr/>
        <p:txBody>
          <a:bodyPr/>
          <a:lstStyle/>
          <a:p>
            <a:r>
              <a:rPr lang="en-SG" dirty="0"/>
              <a:t>Our schedule spans six to seven weeks.</a:t>
            </a:r>
          </a:p>
          <a:p>
            <a:r>
              <a:rPr lang="en-SG" dirty="0"/>
              <a:t>Week one covers environment setup and feasibility checks. Weeks two and three focus on skill training and integration. Weeks four and five cover the controlled experiments. Week six is for analysis, the report, and the demonstration, with week seven reserved as a buffer.</a:t>
            </a:r>
          </a:p>
          <a:p>
            <a:endParaRPr dirty="0"/>
          </a:p>
        </p:txBody>
      </p:sp>
      <p:sp>
        <p:nvSpPr>
          <p:cNvPr id="4" name="Slide Number Placeholder 3">
            <a:extLst>
              <a:ext uri="{FF2B5EF4-FFF2-40B4-BE49-F238E27FC236}">
                <a16:creationId xmlns:a16="http://schemas.microsoft.com/office/drawing/2014/main" id="{D8D25E8B-D716-0B63-112F-012796D0D4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33122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8"/>
        </a:solidFill>
        <a:effectLst/>
      </p:bgPr>
    </p:bg>
    <p:spTree>
      <p:nvGrpSpPr>
        <p:cNvPr id="1" name=""/>
        <p:cNvGrpSpPr/>
        <p:nvPr/>
      </p:nvGrpSpPr>
      <p:grpSpPr>
        <a:xfrm>
          <a:off x="0" y="0"/>
          <a:ext cx="0" cy="0"/>
          <a:chOff x="0" y="0"/>
          <a:chExt cx="0" cy="0"/>
        </a:xfrm>
      </p:grpSpPr>
      <p:sp>
        <p:nvSpPr>
          <p:cNvPr id="8" name="course">
            <a:extLst>
              <a:ext uri="{FF2B5EF4-FFF2-40B4-BE49-F238E27FC236}">
                <a16:creationId xmlns:a16="http://schemas.microsoft.com/office/drawing/2014/main" id="{CE7C73F9-B29D-4312-8942-B97793FEF478}"/>
              </a:ext>
            </a:extLst>
          </p:cNvPr>
          <p:cNvSpPr>
            <a:spLocks noGrp="1"/>
          </p:cNvSpPr>
          <p:nvPr/>
        </p:nvSpPr>
        <p:spPr>
          <a:xfrm>
            <a:off x="590550" y="609599"/>
            <a:ext cx="10839450" cy="847723"/>
          </a:xfrm>
          <a:prstGeom prst="rect">
            <a:avLst/>
          </a:prstGeom>
          <a:noFill/>
          <a:ln w="0">
            <a:noFill/>
          </a:ln>
        </p:spPr>
        <p:txBody>
          <a:bodyPr wrap="none" lIns="0" tIns="0" rIns="0" bIns="0" anchor="t">
            <a:noAutofit/>
          </a:bodyPr>
          <a:lstStyle/>
          <a:p>
            <a:pPr>
              <a:defRPr sz="1275" b="1">
                <a:solidFill>
                  <a:srgbClr val="E5F3F1"/>
                </a:solidFill>
                <a:latin typeface="Arial"/>
                <a:ea typeface="Arial"/>
                <a:cs typeface="Arial"/>
              </a:defRPr>
            </a:pPr>
            <a:r>
              <a:rPr lang="en-SG" sz="1275" dirty="0">
                <a:solidFill>
                  <a:srgbClr val="E5F3F1"/>
                </a:solidFill>
                <a:latin typeface="Arial"/>
              </a:rPr>
              <a:t>Intelligent Robots: Algorithms and Systems</a:t>
            </a:r>
          </a:p>
          <a:p>
            <a:pPr algn="l">
              <a:defRPr sz="1275" b="1">
                <a:solidFill>
                  <a:srgbClr val="E5F3F1"/>
                </a:solidFill>
                <a:latin typeface="Arial"/>
                <a:ea typeface="Arial"/>
                <a:cs typeface="Arial"/>
              </a:defRPr>
            </a:pPr>
            <a:r>
              <a:rPr lang="en-SG" sz="1275" b="1" dirty="0">
                <a:solidFill>
                  <a:srgbClr val="E5F3F1"/>
                </a:solidFill>
                <a:latin typeface="Arial"/>
                <a:ea typeface="Arial"/>
                <a:cs typeface="Arial"/>
              </a:rPr>
              <a:t> (CS5478)</a:t>
            </a:r>
            <a:endParaRPr sz="1275" b="1" dirty="0">
              <a:solidFill>
                <a:srgbClr val="E5F3F1"/>
              </a:solidFill>
              <a:latin typeface="Arial"/>
              <a:ea typeface="Arial"/>
              <a:cs typeface="Arial"/>
            </a:endParaRPr>
          </a:p>
        </p:txBody>
      </p:sp>
      <p:sp>
        <p:nvSpPr>
          <p:cNvPr id="2" name="cover-title">
            <a:extLst>
              <a:ext uri="{FF2B5EF4-FFF2-40B4-BE49-F238E27FC236}">
                <a16:creationId xmlns:a16="http://schemas.microsoft.com/office/drawing/2014/main" id="{650252DB-122E-4790-883D-2F8F508CB297}"/>
              </a:ext>
            </a:extLst>
          </p:cNvPr>
          <p:cNvSpPr>
            <a:spLocks noGrp="1"/>
          </p:cNvSpPr>
          <p:nvPr/>
        </p:nvSpPr>
        <p:spPr>
          <a:xfrm>
            <a:off x="590550" y="1724025"/>
            <a:ext cx="11010900" cy="1524000"/>
          </a:xfrm>
          <a:prstGeom prst="rect">
            <a:avLst/>
          </a:prstGeom>
          <a:noFill/>
          <a:ln w="0">
            <a:noFill/>
          </a:ln>
        </p:spPr>
        <p:txBody>
          <a:bodyPr wrap="none" lIns="0" tIns="0" rIns="0" bIns="0" anchor="t">
            <a:noAutofit/>
          </a:bodyPr>
          <a:lstStyle/>
          <a:p>
            <a:pPr algn="l">
              <a:defRPr sz="4300" b="1">
                <a:solidFill>
                  <a:srgbClr val="FFFFFF"/>
                </a:solidFill>
                <a:latin typeface="Arial"/>
                <a:ea typeface="Arial"/>
                <a:cs typeface="Arial"/>
              </a:defRPr>
            </a:pPr>
            <a:r>
              <a:rPr sz="4300" b="1" dirty="0">
                <a:solidFill>
                  <a:srgbClr val="FFFFFF"/>
                </a:solidFill>
                <a:latin typeface="Arial"/>
                <a:ea typeface="Arial"/>
                <a:cs typeface="Arial"/>
              </a:rPr>
              <a:t>Reinforcement learning</a:t>
            </a:r>
          </a:p>
          <a:p>
            <a:pPr algn="l">
              <a:defRPr sz="4300" b="1">
                <a:solidFill>
                  <a:srgbClr val="FFFFFF"/>
                </a:solidFill>
                <a:latin typeface="Arial"/>
                <a:ea typeface="Arial"/>
                <a:cs typeface="Arial"/>
              </a:defRPr>
            </a:pPr>
            <a:r>
              <a:rPr sz="4300" b="1" dirty="0">
                <a:solidFill>
                  <a:srgbClr val="FFFFFF"/>
                </a:solidFill>
                <a:latin typeface="Arial"/>
                <a:ea typeface="Arial"/>
                <a:cs typeface="Arial"/>
              </a:rPr>
              <a:t>for </a:t>
            </a:r>
            <a:r>
              <a:rPr lang="en-SG" sz="4300" b="1" dirty="0">
                <a:solidFill>
                  <a:srgbClr val="FFFFFF"/>
                </a:solidFill>
                <a:latin typeface="Arial"/>
                <a:ea typeface="Arial"/>
                <a:cs typeface="Arial"/>
              </a:rPr>
              <a:t>Pick-Nav-Reach Task</a:t>
            </a:r>
            <a:endParaRPr sz="4300" b="1" dirty="0">
              <a:solidFill>
                <a:srgbClr val="FFFFFF"/>
              </a:solidFill>
              <a:latin typeface="Arial"/>
              <a:ea typeface="Arial"/>
              <a:cs typeface="Arial"/>
            </a:endParaRPr>
          </a:p>
        </p:txBody>
      </p:sp>
      <p:sp>
        <p:nvSpPr>
          <p:cNvPr id="3" name="cover-subtitle">
            <a:extLst>
              <a:ext uri="{FF2B5EF4-FFF2-40B4-BE49-F238E27FC236}">
                <a16:creationId xmlns:a16="http://schemas.microsoft.com/office/drawing/2014/main" id="{9403D475-8454-4E28-827B-BC89863874F7}"/>
              </a:ext>
            </a:extLst>
          </p:cNvPr>
          <p:cNvSpPr>
            <a:spLocks noGrp="1"/>
          </p:cNvSpPr>
          <p:nvPr/>
        </p:nvSpPr>
        <p:spPr>
          <a:xfrm>
            <a:off x="590550" y="3619500"/>
            <a:ext cx="11010900" cy="504825"/>
          </a:xfrm>
          <a:prstGeom prst="rect">
            <a:avLst/>
          </a:prstGeom>
          <a:noFill/>
          <a:ln w="0">
            <a:noFill/>
          </a:ln>
        </p:spPr>
        <p:txBody>
          <a:bodyPr wrap="none" lIns="0" tIns="0" rIns="0" bIns="0" anchor="t">
            <a:noAutofit/>
          </a:bodyPr>
          <a:lstStyle/>
          <a:p>
            <a:pPr algn="l">
              <a:defRPr sz="2300" b="0">
                <a:solidFill>
                  <a:srgbClr val="D5E1EB"/>
                </a:solidFill>
                <a:latin typeface="Arial"/>
                <a:ea typeface="Arial"/>
                <a:cs typeface="Arial"/>
              </a:defRPr>
            </a:pPr>
            <a:r>
              <a:rPr sz="2300" b="0">
                <a:solidFill>
                  <a:srgbClr val="D5E1EB"/>
                </a:solidFill>
                <a:latin typeface="Arial"/>
                <a:ea typeface="Arial"/>
                <a:cs typeface="Arial"/>
              </a:rPr>
              <a:t>SAC and TD3 with hindsight experience replay</a:t>
            </a:r>
          </a:p>
        </p:txBody>
      </p:sp>
      <p:sp>
        <p:nvSpPr>
          <p:cNvPr id="4" name="cover-accent">
            <a:extLst>
              <a:ext uri="{FF2B5EF4-FFF2-40B4-BE49-F238E27FC236}">
                <a16:creationId xmlns:a16="http://schemas.microsoft.com/office/drawing/2014/main" id="{959BFA7B-F0E8-47ED-9F81-58DFB52EB6A3}"/>
              </a:ext>
            </a:extLst>
          </p:cNvPr>
          <p:cNvSpPr>
            <a:spLocks noGrp="1"/>
          </p:cNvSpPr>
          <p:nvPr/>
        </p:nvSpPr>
        <p:spPr>
          <a:xfrm>
            <a:off x="590550" y="4391025"/>
            <a:ext cx="5238750" cy="0"/>
          </a:xfrm>
          <a:prstGeom prst="line">
            <a:avLst/>
          </a:prstGeom>
          <a:noFill/>
          <a:ln w="47625">
            <a:solidFill>
              <a:srgbClr val="087F83"/>
            </a:solidFill>
          </a:ln>
        </p:spPr>
        <p:txBody>
          <a:bodyPr/>
          <a:lstStyle/>
          <a:p>
            <a:endParaRPr lang="en-SG"/>
          </a:p>
        </p:txBody>
      </p:sp>
      <p:sp>
        <p:nvSpPr>
          <p:cNvPr id="5" name="author">
            <a:extLst>
              <a:ext uri="{FF2B5EF4-FFF2-40B4-BE49-F238E27FC236}">
                <a16:creationId xmlns:a16="http://schemas.microsoft.com/office/drawing/2014/main" id="{D171174A-4C52-45FE-8015-36033B1C4B51}"/>
              </a:ext>
            </a:extLst>
          </p:cNvPr>
          <p:cNvSpPr>
            <a:spLocks noGrp="1"/>
          </p:cNvSpPr>
          <p:nvPr/>
        </p:nvSpPr>
        <p:spPr>
          <a:xfrm>
            <a:off x="590550" y="5219700"/>
            <a:ext cx="10477500" cy="371475"/>
          </a:xfrm>
          <a:prstGeom prst="rect">
            <a:avLst/>
          </a:prstGeom>
          <a:noFill/>
          <a:ln w="0">
            <a:noFill/>
          </a:ln>
        </p:spPr>
        <p:txBody>
          <a:bodyPr wrap="none" lIns="0" tIns="0" rIns="0" bIns="0" anchor="t">
            <a:noAutofit/>
          </a:bodyPr>
          <a:lstStyle/>
          <a:p>
            <a:pPr algn="l">
              <a:defRPr sz="1900" b="1">
                <a:solidFill>
                  <a:srgbClr val="FFFFFF"/>
                </a:solidFill>
                <a:latin typeface="Arial"/>
                <a:ea typeface="Arial"/>
                <a:cs typeface="Arial"/>
              </a:defRPr>
            </a:pPr>
            <a:r>
              <a:rPr sz="1900" b="1" dirty="0">
                <a:solidFill>
                  <a:srgbClr val="FFFFFF"/>
                </a:solidFill>
                <a:latin typeface="Arial"/>
                <a:ea typeface="Arial"/>
                <a:cs typeface="Arial"/>
              </a:rPr>
              <a:t>Lin Chieh</a:t>
            </a:r>
            <a:r>
              <a:rPr lang="en-SG" sz="1900" b="1" dirty="0">
                <a:solidFill>
                  <a:srgbClr val="FFFFFF"/>
                </a:solidFill>
                <a:latin typeface="Arial"/>
                <a:ea typeface="Arial"/>
                <a:cs typeface="Arial"/>
              </a:rPr>
              <a:t> and Elston</a:t>
            </a:r>
            <a:endParaRPr sz="1900" b="1" dirty="0">
              <a:solidFill>
                <a:srgbClr val="FFFFFF"/>
              </a:solidFill>
              <a:latin typeface="Arial"/>
              <a:ea typeface="Arial"/>
              <a:cs typeface="Arial"/>
            </a:endParaRPr>
          </a:p>
        </p:txBody>
      </p:sp>
      <p:sp>
        <p:nvSpPr>
          <p:cNvPr id="7" name="page-number">
            <a:extLst>
              <a:ext uri="{FF2B5EF4-FFF2-40B4-BE49-F238E27FC236}">
                <a16:creationId xmlns:a16="http://schemas.microsoft.com/office/drawing/2014/main" id="{B9FF6167-45FE-4BE1-9753-76A61F9BE2AF}"/>
              </a:ext>
            </a:extLst>
          </p:cNvPr>
          <p:cNvSpPr>
            <a:spLocks noGrp="1"/>
          </p:cNvSpPr>
          <p:nvPr/>
        </p:nvSpPr>
        <p:spPr>
          <a:xfrm>
            <a:off x="10858500" y="6657975"/>
            <a:ext cx="781050" cy="142875"/>
          </a:xfrm>
          <a:prstGeom prst="rect">
            <a:avLst/>
          </a:prstGeom>
          <a:noFill/>
          <a:ln w="0">
            <a:noFill/>
          </a:ln>
        </p:spPr>
        <p:txBody>
          <a:bodyPr wrap="none" lIns="0" tIns="0" rIns="0" bIns="0" anchor="t">
            <a:noAutofit/>
          </a:bodyPr>
          <a:lstStyle/>
          <a:p>
            <a:pPr algn="r">
              <a:defRPr sz="840" b="0">
                <a:solidFill>
                  <a:srgbClr val="D5E1EB"/>
                </a:solidFill>
                <a:latin typeface="Arial"/>
                <a:ea typeface="Arial"/>
                <a:cs typeface="Arial"/>
              </a:defRPr>
            </a:pPr>
            <a:r>
              <a:rPr sz="840" b="0">
                <a:solidFill>
                  <a:srgbClr val="D5E1EB"/>
                </a:solidFill>
                <a:latin typeface="Arial"/>
                <a:ea typeface="Arial"/>
                <a:cs typeface="Arial"/>
              </a:rPr>
              <a:t>1 / 5</a:t>
            </a:r>
          </a:p>
        </p:txBody>
      </p:sp>
    </p:spTree>
    <p:extLst>
      <p:ext uri="{BB962C8B-B14F-4D97-AF65-F5344CB8AC3E}">
        <p14:creationId xmlns:p14="http://schemas.microsoft.com/office/powerpoint/2010/main" val="1456568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F5BFE37C-C2A4-41B7-8015-8E2598B6987D}"/>
              </a:ext>
            </a:extLst>
          </p:cNvPr>
          <p:cNvSpPr>
            <a:spLocks noGrp="1"/>
          </p:cNvSpPr>
          <p:nvPr/>
        </p:nvSpPr>
        <p:spPr>
          <a:xfrm>
            <a:off x="552450" y="666750"/>
            <a:ext cx="11087100" cy="619125"/>
          </a:xfrm>
          <a:prstGeom prst="rect">
            <a:avLst/>
          </a:prstGeom>
          <a:noFill/>
          <a:ln w="0">
            <a:noFill/>
          </a:ln>
        </p:spPr>
        <p:txBody>
          <a:bodyPr wrap="none" lIns="0" tIns="0" rIns="0" bIns="0" anchor="t">
            <a:noAutofit/>
          </a:bodyPr>
          <a:lstStyle/>
          <a:p>
            <a:pPr algn="l">
              <a:defRPr sz="3100" b="1">
                <a:solidFill>
                  <a:srgbClr val="15283F"/>
                </a:solidFill>
                <a:latin typeface="Arial"/>
                <a:ea typeface="Arial"/>
                <a:cs typeface="Arial"/>
              </a:defRPr>
            </a:pPr>
            <a:r>
              <a:rPr sz="3100" b="1">
                <a:solidFill>
                  <a:srgbClr val="15283F"/>
                </a:solidFill>
                <a:latin typeface="Arial"/>
                <a:ea typeface="Arial"/>
                <a:cs typeface="Arial"/>
              </a:rPr>
              <a:t>Task and objective</a:t>
            </a:r>
          </a:p>
        </p:txBody>
      </p:sp>
      <p:sp>
        <p:nvSpPr>
          <p:cNvPr id="2" name="footer-rule">
            <a:extLst>
              <a:ext uri="{FF2B5EF4-FFF2-40B4-BE49-F238E27FC236}">
                <a16:creationId xmlns:a16="http://schemas.microsoft.com/office/drawing/2014/main" id="{D8E83EA5-A84D-4246-9DD1-CE5B094E4612}"/>
              </a:ext>
            </a:extLst>
          </p:cNvPr>
          <p:cNvSpPr>
            <a:spLocks noGrp="1"/>
          </p:cNvSpPr>
          <p:nvPr/>
        </p:nvSpPr>
        <p:spPr>
          <a:xfrm>
            <a:off x="552450" y="6572250"/>
            <a:ext cx="11087100" cy="0"/>
          </a:xfrm>
          <a:prstGeom prst="line">
            <a:avLst/>
          </a:prstGeom>
          <a:noFill/>
          <a:ln w="9525">
            <a:solidFill>
              <a:srgbClr val="D7E0EA"/>
            </a:solidFill>
          </a:ln>
        </p:spPr>
        <p:txBody>
          <a:bodyPr/>
          <a:lstStyle/>
          <a:p>
            <a:endParaRPr lang="en-SG"/>
          </a:p>
        </p:txBody>
      </p:sp>
      <p:sp>
        <p:nvSpPr>
          <p:cNvPr id="3" name="page-number">
            <a:extLst>
              <a:ext uri="{FF2B5EF4-FFF2-40B4-BE49-F238E27FC236}">
                <a16:creationId xmlns:a16="http://schemas.microsoft.com/office/drawing/2014/main" id="{816C4974-C6F3-46DD-B0BC-F49AE61B5F26}"/>
              </a:ext>
            </a:extLst>
          </p:cNvPr>
          <p:cNvSpPr>
            <a:spLocks noGrp="1"/>
          </p:cNvSpPr>
          <p:nvPr/>
        </p:nvSpPr>
        <p:spPr>
          <a:xfrm>
            <a:off x="10858500" y="6657975"/>
            <a:ext cx="781050" cy="142875"/>
          </a:xfrm>
          <a:prstGeom prst="rect">
            <a:avLst/>
          </a:prstGeom>
          <a:noFill/>
          <a:ln w="0">
            <a:noFill/>
          </a:ln>
        </p:spPr>
        <p:txBody>
          <a:bodyPr wrap="none" lIns="0" tIns="0" rIns="0" bIns="0" anchor="t">
            <a:noAutofit/>
          </a:bodyPr>
          <a:lstStyle/>
          <a:p>
            <a:pPr algn="r">
              <a:defRPr sz="840" b="0">
                <a:solidFill>
                  <a:srgbClr val="53667B"/>
                </a:solidFill>
                <a:latin typeface="Arial"/>
                <a:ea typeface="Arial"/>
                <a:cs typeface="Arial"/>
              </a:defRPr>
            </a:pPr>
            <a:r>
              <a:rPr sz="840" b="0">
                <a:solidFill>
                  <a:srgbClr val="53667B"/>
                </a:solidFill>
                <a:latin typeface="Arial"/>
                <a:ea typeface="Arial"/>
                <a:cs typeface="Arial"/>
              </a:rPr>
              <a:t>2 / 5</a:t>
            </a:r>
          </a:p>
        </p:txBody>
      </p:sp>
      <p:sp>
        <p:nvSpPr>
          <p:cNvPr id="4" name="environment">
            <a:extLst>
              <a:ext uri="{FF2B5EF4-FFF2-40B4-BE49-F238E27FC236}">
                <a16:creationId xmlns:a16="http://schemas.microsoft.com/office/drawing/2014/main" id="{973D6242-DF3F-4E67-8FC4-FCAE1FDF1738}"/>
              </a:ext>
            </a:extLst>
          </p:cNvPr>
          <p:cNvSpPr>
            <a:spLocks noGrp="1"/>
          </p:cNvSpPr>
          <p:nvPr/>
        </p:nvSpPr>
        <p:spPr>
          <a:xfrm>
            <a:off x="552450" y="1504950"/>
            <a:ext cx="11087100" cy="419100"/>
          </a:xfrm>
          <a:prstGeom prst="rect">
            <a:avLst/>
          </a:prstGeom>
          <a:noFill/>
          <a:ln w="0">
            <a:noFill/>
          </a:ln>
        </p:spPr>
        <p:txBody>
          <a:bodyPr wrap="none" lIns="0" tIns="0" rIns="0" bIns="0" anchor="t">
            <a:noAutofit/>
          </a:bodyPr>
          <a:lstStyle/>
          <a:p>
            <a:pPr algn="l">
              <a:defRPr sz="2100" b="0">
                <a:solidFill>
                  <a:srgbClr val="53667B"/>
                </a:solidFill>
                <a:latin typeface="Arial"/>
                <a:ea typeface="Arial"/>
                <a:cs typeface="Arial"/>
              </a:defRPr>
            </a:pPr>
            <a:r>
              <a:rPr sz="2100" b="0">
                <a:solidFill>
                  <a:srgbClr val="53667B"/>
                </a:solidFill>
                <a:latin typeface="Arial"/>
                <a:ea typeface="Arial"/>
                <a:cs typeface="Arial"/>
              </a:rPr>
              <a:t>PyBullet simulation with state observations</a:t>
            </a:r>
          </a:p>
        </p:txBody>
      </p:sp>
      <p:sp>
        <p:nvSpPr>
          <p:cNvPr id="5" name="task-Grasp and lift">
            <a:extLst>
              <a:ext uri="{FF2B5EF4-FFF2-40B4-BE49-F238E27FC236}">
                <a16:creationId xmlns:a16="http://schemas.microsoft.com/office/drawing/2014/main" id="{E96A8F28-C792-4B44-9DD0-39E256CA886C}"/>
              </a:ext>
            </a:extLst>
          </p:cNvPr>
          <p:cNvSpPr>
            <a:spLocks noGrp="1"/>
          </p:cNvSpPr>
          <p:nvPr/>
        </p:nvSpPr>
        <p:spPr>
          <a:xfrm>
            <a:off x="552450" y="2486025"/>
            <a:ext cx="3143250" cy="1438275"/>
          </a:xfrm>
          <a:prstGeom prst="rect">
            <a:avLst/>
          </a:prstGeom>
          <a:solidFill>
            <a:srgbClr val="FFFFFF"/>
          </a:solidFill>
          <a:ln w="14288">
            <a:solidFill>
              <a:srgbClr val="D7E0EA"/>
            </a:solidFill>
          </a:ln>
        </p:spPr>
        <p:txBody>
          <a:bodyPr/>
          <a:lstStyle/>
          <a:p>
            <a:endParaRPr lang="en-SG"/>
          </a:p>
        </p:txBody>
      </p:sp>
      <p:sp>
        <p:nvSpPr>
          <p:cNvPr id="6" name="task-title-Grasp and lift">
            <a:extLst>
              <a:ext uri="{FF2B5EF4-FFF2-40B4-BE49-F238E27FC236}">
                <a16:creationId xmlns:a16="http://schemas.microsoft.com/office/drawing/2014/main" id="{E17F51CA-99C6-472E-9839-B068E5A0AA02}"/>
              </a:ext>
            </a:extLst>
          </p:cNvPr>
          <p:cNvSpPr>
            <a:spLocks noGrp="1"/>
          </p:cNvSpPr>
          <p:nvPr/>
        </p:nvSpPr>
        <p:spPr>
          <a:xfrm>
            <a:off x="666750" y="2781300"/>
            <a:ext cx="2914650" cy="438150"/>
          </a:xfrm>
          <a:prstGeom prst="rect">
            <a:avLst/>
          </a:prstGeom>
          <a:noFill/>
          <a:ln w="0">
            <a:noFill/>
          </a:ln>
        </p:spPr>
        <p:txBody>
          <a:bodyPr wrap="none" lIns="0" tIns="0" rIns="0" bIns="0" anchor="t">
            <a:noAutofit/>
          </a:bodyPr>
          <a:lstStyle/>
          <a:p>
            <a:pPr algn="ctr">
              <a:defRPr sz="2200" b="1">
                <a:solidFill>
                  <a:srgbClr val="15283F"/>
                </a:solidFill>
                <a:latin typeface="Arial"/>
                <a:ea typeface="Arial"/>
                <a:cs typeface="Arial"/>
              </a:defRPr>
            </a:pPr>
            <a:r>
              <a:rPr sz="2200" b="1">
                <a:solidFill>
                  <a:srgbClr val="15283F"/>
                </a:solidFill>
                <a:latin typeface="Arial"/>
                <a:ea typeface="Arial"/>
                <a:cs typeface="Arial"/>
              </a:rPr>
              <a:t>Grasp and lift</a:t>
            </a:r>
          </a:p>
        </p:txBody>
      </p:sp>
      <p:sp>
        <p:nvSpPr>
          <p:cNvPr id="7" name="task-detail-Grasp and lift">
            <a:extLst>
              <a:ext uri="{FF2B5EF4-FFF2-40B4-BE49-F238E27FC236}">
                <a16:creationId xmlns:a16="http://schemas.microsoft.com/office/drawing/2014/main" id="{4947700C-4327-4D7A-8104-7AF52F4A8253}"/>
              </a:ext>
            </a:extLst>
          </p:cNvPr>
          <p:cNvSpPr>
            <a:spLocks noGrp="1"/>
          </p:cNvSpPr>
          <p:nvPr/>
        </p:nvSpPr>
        <p:spPr>
          <a:xfrm>
            <a:off x="666750" y="3362325"/>
            <a:ext cx="2914650" cy="381000"/>
          </a:xfrm>
          <a:prstGeom prst="rect">
            <a:avLst/>
          </a:prstGeom>
          <a:noFill/>
          <a:ln w="0">
            <a:noFill/>
          </a:ln>
        </p:spPr>
        <p:txBody>
          <a:bodyPr wrap="none" lIns="0" tIns="0" rIns="0" bIns="0" anchor="t">
            <a:noAutofit/>
          </a:bodyPr>
          <a:lstStyle/>
          <a:p>
            <a:pPr algn="ctr">
              <a:defRPr sz="1900" b="0">
                <a:solidFill>
                  <a:srgbClr val="53667B"/>
                </a:solidFill>
                <a:latin typeface="Arial"/>
                <a:ea typeface="Arial"/>
                <a:cs typeface="Arial"/>
              </a:defRPr>
            </a:pPr>
            <a:r>
              <a:rPr sz="1900" b="0">
                <a:solidFill>
                  <a:srgbClr val="53667B"/>
                </a:solidFill>
                <a:latin typeface="Arial"/>
                <a:ea typeface="Arial"/>
                <a:cs typeface="Arial"/>
              </a:rPr>
              <a:t>Arm and gripper</a:t>
            </a:r>
          </a:p>
        </p:txBody>
      </p:sp>
      <p:sp>
        <p:nvSpPr>
          <p:cNvPr id="8" name="task-Carry through maze">
            <a:extLst>
              <a:ext uri="{FF2B5EF4-FFF2-40B4-BE49-F238E27FC236}">
                <a16:creationId xmlns:a16="http://schemas.microsoft.com/office/drawing/2014/main" id="{395854FA-FC26-4295-8CBA-B55FA2D5EA85}"/>
              </a:ext>
            </a:extLst>
          </p:cNvPr>
          <p:cNvSpPr>
            <a:spLocks noGrp="1"/>
          </p:cNvSpPr>
          <p:nvPr/>
        </p:nvSpPr>
        <p:spPr>
          <a:xfrm>
            <a:off x="4524375" y="2486025"/>
            <a:ext cx="3143250" cy="1438275"/>
          </a:xfrm>
          <a:prstGeom prst="rect">
            <a:avLst/>
          </a:prstGeom>
          <a:solidFill>
            <a:srgbClr val="E5F3F1"/>
          </a:solidFill>
          <a:ln w="14288">
            <a:solidFill>
              <a:srgbClr val="D7E0EA"/>
            </a:solidFill>
          </a:ln>
        </p:spPr>
        <p:txBody>
          <a:bodyPr/>
          <a:lstStyle/>
          <a:p>
            <a:endParaRPr lang="en-SG"/>
          </a:p>
        </p:txBody>
      </p:sp>
      <p:sp>
        <p:nvSpPr>
          <p:cNvPr id="9" name="task-title-Carry through maze">
            <a:extLst>
              <a:ext uri="{FF2B5EF4-FFF2-40B4-BE49-F238E27FC236}">
                <a16:creationId xmlns:a16="http://schemas.microsoft.com/office/drawing/2014/main" id="{34BD362E-5B89-4E76-85F4-BD0D74AB1993}"/>
              </a:ext>
            </a:extLst>
          </p:cNvPr>
          <p:cNvSpPr>
            <a:spLocks noGrp="1"/>
          </p:cNvSpPr>
          <p:nvPr/>
        </p:nvSpPr>
        <p:spPr>
          <a:xfrm>
            <a:off x="4638675" y="2781300"/>
            <a:ext cx="2914650" cy="438150"/>
          </a:xfrm>
          <a:prstGeom prst="rect">
            <a:avLst/>
          </a:prstGeom>
          <a:noFill/>
          <a:ln w="0">
            <a:noFill/>
          </a:ln>
        </p:spPr>
        <p:txBody>
          <a:bodyPr wrap="none" lIns="0" tIns="0" rIns="0" bIns="0" anchor="t">
            <a:noAutofit/>
          </a:bodyPr>
          <a:lstStyle/>
          <a:p>
            <a:pPr algn="ctr">
              <a:defRPr sz="2200" b="1">
                <a:solidFill>
                  <a:srgbClr val="15283F"/>
                </a:solidFill>
                <a:latin typeface="Arial"/>
                <a:ea typeface="Arial"/>
                <a:cs typeface="Arial"/>
              </a:defRPr>
            </a:pPr>
            <a:r>
              <a:rPr sz="2200" b="1">
                <a:solidFill>
                  <a:srgbClr val="15283F"/>
                </a:solidFill>
                <a:latin typeface="Arial"/>
                <a:ea typeface="Arial"/>
                <a:cs typeface="Arial"/>
              </a:rPr>
              <a:t>Carry through maze</a:t>
            </a:r>
          </a:p>
        </p:txBody>
      </p:sp>
      <p:sp>
        <p:nvSpPr>
          <p:cNvPr id="10" name="task-detail-Carry through maze">
            <a:extLst>
              <a:ext uri="{FF2B5EF4-FFF2-40B4-BE49-F238E27FC236}">
                <a16:creationId xmlns:a16="http://schemas.microsoft.com/office/drawing/2014/main" id="{C67A237C-D0E9-4B3C-B437-05A60B40C371}"/>
              </a:ext>
            </a:extLst>
          </p:cNvPr>
          <p:cNvSpPr>
            <a:spLocks noGrp="1"/>
          </p:cNvSpPr>
          <p:nvPr/>
        </p:nvSpPr>
        <p:spPr>
          <a:xfrm>
            <a:off x="4638675" y="3362325"/>
            <a:ext cx="2914650" cy="381000"/>
          </a:xfrm>
          <a:prstGeom prst="rect">
            <a:avLst/>
          </a:prstGeom>
          <a:noFill/>
          <a:ln w="0">
            <a:noFill/>
          </a:ln>
        </p:spPr>
        <p:txBody>
          <a:bodyPr wrap="none" lIns="0" tIns="0" rIns="0" bIns="0" anchor="t">
            <a:noAutofit/>
          </a:bodyPr>
          <a:lstStyle/>
          <a:p>
            <a:pPr algn="ctr">
              <a:defRPr sz="1900" b="0">
                <a:solidFill>
                  <a:srgbClr val="53667B"/>
                </a:solidFill>
                <a:latin typeface="Arial"/>
                <a:ea typeface="Arial"/>
                <a:cs typeface="Arial"/>
              </a:defRPr>
            </a:pPr>
            <a:r>
              <a:rPr sz="1900" b="0">
                <a:solidFill>
                  <a:srgbClr val="53667B"/>
                </a:solidFill>
                <a:latin typeface="Arial"/>
                <a:ea typeface="Arial"/>
                <a:cs typeface="Arial"/>
              </a:rPr>
              <a:t>Mobile base</a:t>
            </a:r>
          </a:p>
        </p:txBody>
      </p:sp>
      <p:sp>
        <p:nvSpPr>
          <p:cNvPr id="11" name="task-Place and release">
            <a:extLst>
              <a:ext uri="{FF2B5EF4-FFF2-40B4-BE49-F238E27FC236}">
                <a16:creationId xmlns:a16="http://schemas.microsoft.com/office/drawing/2014/main" id="{CEFC1993-BE94-4CD7-BA75-3EB54E62C963}"/>
              </a:ext>
            </a:extLst>
          </p:cNvPr>
          <p:cNvSpPr>
            <a:spLocks noGrp="1"/>
          </p:cNvSpPr>
          <p:nvPr/>
        </p:nvSpPr>
        <p:spPr>
          <a:xfrm>
            <a:off x="8496300" y="2486025"/>
            <a:ext cx="3143250" cy="1438275"/>
          </a:xfrm>
          <a:prstGeom prst="rect">
            <a:avLst/>
          </a:prstGeom>
          <a:solidFill>
            <a:srgbClr val="FFFFFF"/>
          </a:solidFill>
          <a:ln w="14288">
            <a:solidFill>
              <a:srgbClr val="D7E0EA"/>
            </a:solidFill>
          </a:ln>
        </p:spPr>
        <p:txBody>
          <a:bodyPr/>
          <a:lstStyle/>
          <a:p>
            <a:endParaRPr lang="en-SG"/>
          </a:p>
        </p:txBody>
      </p:sp>
      <p:sp>
        <p:nvSpPr>
          <p:cNvPr id="12" name="task-title-Place and release">
            <a:extLst>
              <a:ext uri="{FF2B5EF4-FFF2-40B4-BE49-F238E27FC236}">
                <a16:creationId xmlns:a16="http://schemas.microsoft.com/office/drawing/2014/main" id="{73B731D0-FDB3-4276-9068-4300E3329CF3}"/>
              </a:ext>
            </a:extLst>
          </p:cNvPr>
          <p:cNvSpPr>
            <a:spLocks noGrp="1"/>
          </p:cNvSpPr>
          <p:nvPr/>
        </p:nvSpPr>
        <p:spPr>
          <a:xfrm>
            <a:off x="8610600" y="2781300"/>
            <a:ext cx="2914650" cy="438150"/>
          </a:xfrm>
          <a:prstGeom prst="rect">
            <a:avLst/>
          </a:prstGeom>
          <a:noFill/>
          <a:ln w="0">
            <a:noFill/>
          </a:ln>
        </p:spPr>
        <p:txBody>
          <a:bodyPr wrap="none" lIns="0" tIns="0" rIns="0" bIns="0" anchor="t">
            <a:noAutofit/>
          </a:bodyPr>
          <a:lstStyle/>
          <a:p>
            <a:pPr algn="ctr">
              <a:defRPr sz="2200" b="1">
                <a:solidFill>
                  <a:srgbClr val="15283F"/>
                </a:solidFill>
                <a:latin typeface="Arial"/>
                <a:ea typeface="Arial"/>
                <a:cs typeface="Arial"/>
              </a:defRPr>
            </a:pPr>
            <a:r>
              <a:rPr sz="2200" b="1">
                <a:solidFill>
                  <a:srgbClr val="15283F"/>
                </a:solidFill>
                <a:latin typeface="Arial"/>
                <a:ea typeface="Arial"/>
                <a:cs typeface="Arial"/>
              </a:rPr>
              <a:t>Place and release</a:t>
            </a:r>
          </a:p>
        </p:txBody>
      </p:sp>
      <p:sp>
        <p:nvSpPr>
          <p:cNvPr id="13" name="task-detail-Place and release">
            <a:extLst>
              <a:ext uri="{FF2B5EF4-FFF2-40B4-BE49-F238E27FC236}">
                <a16:creationId xmlns:a16="http://schemas.microsoft.com/office/drawing/2014/main" id="{ABD97F75-ED3A-41AB-9E96-67D68F1508FB}"/>
              </a:ext>
            </a:extLst>
          </p:cNvPr>
          <p:cNvSpPr>
            <a:spLocks noGrp="1"/>
          </p:cNvSpPr>
          <p:nvPr/>
        </p:nvSpPr>
        <p:spPr>
          <a:xfrm>
            <a:off x="8610600" y="3362325"/>
            <a:ext cx="2914650" cy="381000"/>
          </a:xfrm>
          <a:prstGeom prst="rect">
            <a:avLst/>
          </a:prstGeom>
          <a:noFill/>
          <a:ln w="0">
            <a:noFill/>
          </a:ln>
        </p:spPr>
        <p:txBody>
          <a:bodyPr wrap="none" lIns="0" tIns="0" rIns="0" bIns="0" anchor="t">
            <a:noAutofit/>
          </a:bodyPr>
          <a:lstStyle/>
          <a:p>
            <a:pPr algn="ctr">
              <a:defRPr sz="1900" b="0">
                <a:solidFill>
                  <a:srgbClr val="53667B"/>
                </a:solidFill>
                <a:latin typeface="Arial"/>
                <a:ea typeface="Arial"/>
                <a:cs typeface="Arial"/>
              </a:defRPr>
            </a:pPr>
            <a:r>
              <a:rPr sz="1900" b="0">
                <a:solidFill>
                  <a:srgbClr val="53667B"/>
                </a:solidFill>
                <a:latin typeface="Arial"/>
                <a:ea typeface="Arial"/>
                <a:cs typeface="Arial"/>
              </a:rPr>
              <a:t>Arm and gripper</a:t>
            </a:r>
          </a:p>
        </p:txBody>
      </p:sp>
      <p:cxnSp>
        <p:nvCxnSpPr>
          <p:cNvPr id="31" name="Straight Arrow Connector 30"/>
          <p:cNvCxnSpPr>
            <a:stCxn id="5" idx="3"/>
            <a:endCxn id="8" idx="1"/>
          </p:cNvCxnSpPr>
          <p:nvPr/>
        </p:nvCxnSpPr>
        <p:spPr>
          <a:xfrm>
            <a:off x="3695700" y="3205163"/>
            <a:ext cx="828675" cy="0"/>
          </a:xfrm>
          <a:prstGeom prst="straightConnector1">
            <a:avLst/>
          </a:prstGeom>
          <a:ln w="19050">
            <a:solidFill>
              <a:srgbClr val="53667B"/>
            </a:solidFill>
            <a:tailEnd type="triangle" w="sm" len="sm"/>
          </a:ln>
        </p:spPr>
      </p:cxnSp>
      <p:cxnSp>
        <p:nvCxnSpPr>
          <p:cNvPr id="32" name="Straight Arrow Connector 31"/>
          <p:cNvCxnSpPr>
            <a:stCxn id="8" idx="3"/>
            <a:endCxn id="11" idx="1"/>
          </p:cNvCxnSpPr>
          <p:nvPr/>
        </p:nvCxnSpPr>
        <p:spPr>
          <a:xfrm>
            <a:off x="7667625" y="3205163"/>
            <a:ext cx="828675" cy="0"/>
          </a:xfrm>
          <a:prstGeom prst="straightConnector1">
            <a:avLst/>
          </a:prstGeom>
          <a:ln w="19050">
            <a:solidFill>
              <a:srgbClr val="53667B"/>
            </a:solidFill>
            <a:tailEnd type="triangle" w="sm" len="sm"/>
          </a:ln>
        </p:spPr>
      </p:cxnSp>
      <p:sp>
        <p:nvSpPr>
          <p:cNvPr id="16" name="objective-label">
            <a:extLst>
              <a:ext uri="{FF2B5EF4-FFF2-40B4-BE49-F238E27FC236}">
                <a16:creationId xmlns:a16="http://schemas.microsoft.com/office/drawing/2014/main" id="{3149AA1C-BD61-454B-877A-9D48021BC9BA}"/>
              </a:ext>
            </a:extLst>
          </p:cNvPr>
          <p:cNvSpPr>
            <a:spLocks noGrp="1"/>
          </p:cNvSpPr>
          <p:nvPr/>
        </p:nvSpPr>
        <p:spPr>
          <a:xfrm>
            <a:off x="552450" y="4667250"/>
            <a:ext cx="11087100" cy="361950"/>
          </a:xfrm>
          <a:prstGeom prst="rect">
            <a:avLst/>
          </a:prstGeom>
          <a:noFill/>
          <a:ln w="0">
            <a:noFill/>
          </a:ln>
        </p:spPr>
        <p:txBody>
          <a:bodyPr wrap="none" lIns="0" tIns="0" rIns="0" bIns="0" anchor="t">
            <a:noAutofit/>
          </a:bodyPr>
          <a:lstStyle/>
          <a:p>
            <a:pPr algn="l">
              <a:defRPr sz="1900" b="1">
                <a:solidFill>
                  <a:srgbClr val="087F83"/>
                </a:solidFill>
                <a:latin typeface="Arial"/>
                <a:ea typeface="Arial"/>
                <a:cs typeface="Arial"/>
              </a:defRPr>
            </a:pPr>
            <a:r>
              <a:rPr sz="1900" b="1">
                <a:solidFill>
                  <a:srgbClr val="087F83"/>
                </a:solidFill>
                <a:latin typeface="Arial"/>
                <a:ea typeface="Arial"/>
                <a:cs typeface="Arial"/>
              </a:rPr>
              <a:t>Objective</a:t>
            </a:r>
          </a:p>
        </p:txBody>
      </p:sp>
      <p:sp>
        <p:nvSpPr>
          <p:cNvPr id="17" name="objective">
            <a:extLst>
              <a:ext uri="{FF2B5EF4-FFF2-40B4-BE49-F238E27FC236}">
                <a16:creationId xmlns:a16="http://schemas.microsoft.com/office/drawing/2014/main" id="{89624AAB-FD7B-45C5-8B1A-AC1D1BF6F0A0}"/>
              </a:ext>
            </a:extLst>
          </p:cNvPr>
          <p:cNvSpPr>
            <a:spLocks noGrp="1"/>
          </p:cNvSpPr>
          <p:nvPr/>
        </p:nvSpPr>
        <p:spPr>
          <a:xfrm>
            <a:off x="552450" y="5162550"/>
            <a:ext cx="11087100" cy="866775"/>
          </a:xfrm>
          <a:prstGeom prst="rect">
            <a:avLst/>
          </a:prstGeom>
          <a:noFill/>
          <a:ln w="0">
            <a:noFill/>
          </a:ln>
        </p:spPr>
        <p:txBody>
          <a:bodyPr wrap="none" lIns="0" tIns="0" rIns="0" bIns="0" anchor="t">
            <a:noAutofit/>
          </a:bodyPr>
          <a:lstStyle/>
          <a:p>
            <a:pPr algn="l">
              <a:defRPr sz="2300" b="0">
                <a:solidFill>
                  <a:srgbClr val="15283F"/>
                </a:solidFill>
                <a:latin typeface="Arial"/>
                <a:ea typeface="Arial"/>
                <a:cs typeface="Arial"/>
              </a:defRPr>
            </a:pPr>
            <a:r>
              <a:rPr sz="2300" b="0">
                <a:solidFill>
                  <a:srgbClr val="15283F"/>
                </a:solidFill>
                <a:latin typeface="Arial"/>
                <a:ea typeface="Arial"/>
                <a:cs typeface="Arial"/>
              </a:rPr>
              <a:t>Compare learning efficiency and full-task success</a:t>
            </a:r>
          </a:p>
          <a:p>
            <a:pPr algn="l">
              <a:defRPr sz="2300" b="0">
                <a:solidFill>
                  <a:srgbClr val="15283F"/>
                </a:solidFill>
                <a:latin typeface="Arial"/>
                <a:ea typeface="Arial"/>
                <a:cs typeface="Arial"/>
              </a:defRPr>
            </a:pPr>
            <a:r>
              <a:rPr sz="2300" b="0">
                <a:solidFill>
                  <a:srgbClr val="15283F"/>
                </a:solidFill>
                <a:latin typeface="Arial"/>
                <a:ea typeface="Arial"/>
                <a:cs typeface="Arial"/>
              </a:rPr>
              <a:t>across algorithms and gripper configurations.</a:t>
            </a:r>
          </a:p>
        </p:txBody>
      </p:sp>
    </p:spTree>
    <p:extLst>
      <p:ext uri="{BB962C8B-B14F-4D97-AF65-F5344CB8AC3E}">
        <p14:creationId xmlns:p14="http://schemas.microsoft.com/office/powerpoint/2010/main" val="904442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60641FDA-A57C-4A54-8600-E01A120BDC47}"/>
              </a:ext>
            </a:extLst>
          </p:cNvPr>
          <p:cNvSpPr>
            <a:spLocks noGrp="1"/>
          </p:cNvSpPr>
          <p:nvPr/>
        </p:nvSpPr>
        <p:spPr>
          <a:xfrm>
            <a:off x="552450" y="666750"/>
            <a:ext cx="11087100" cy="619125"/>
          </a:xfrm>
          <a:prstGeom prst="rect">
            <a:avLst/>
          </a:prstGeom>
          <a:noFill/>
          <a:ln w="0">
            <a:noFill/>
          </a:ln>
        </p:spPr>
        <p:txBody>
          <a:bodyPr wrap="none" lIns="0" tIns="0" rIns="0" bIns="0" anchor="t">
            <a:noAutofit/>
          </a:bodyPr>
          <a:lstStyle/>
          <a:p>
            <a:pPr algn="l">
              <a:defRPr sz="3100" b="1">
                <a:solidFill>
                  <a:srgbClr val="15283F"/>
                </a:solidFill>
                <a:latin typeface="Arial"/>
                <a:ea typeface="Arial"/>
                <a:cs typeface="Arial"/>
              </a:defRPr>
            </a:pPr>
            <a:r>
              <a:rPr sz="3100" b="1">
                <a:solidFill>
                  <a:srgbClr val="15283F"/>
                </a:solidFill>
                <a:latin typeface="Arial"/>
                <a:ea typeface="Arial"/>
                <a:cs typeface="Arial"/>
              </a:rPr>
              <a:t>Learning approach</a:t>
            </a:r>
          </a:p>
        </p:txBody>
      </p:sp>
      <p:sp>
        <p:nvSpPr>
          <p:cNvPr id="2" name="footer-rule">
            <a:extLst>
              <a:ext uri="{FF2B5EF4-FFF2-40B4-BE49-F238E27FC236}">
                <a16:creationId xmlns:a16="http://schemas.microsoft.com/office/drawing/2014/main" id="{5092B5AA-D6DC-48DB-9F98-566325A1345C}"/>
              </a:ext>
            </a:extLst>
          </p:cNvPr>
          <p:cNvSpPr>
            <a:spLocks noGrp="1"/>
          </p:cNvSpPr>
          <p:nvPr/>
        </p:nvSpPr>
        <p:spPr>
          <a:xfrm>
            <a:off x="552450" y="6572250"/>
            <a:ext cx="11087100" cy="0"/>
          </a:xfrm>
          <a:prstGeom prst="line">
            <a:avLst/>
          </a:prstGeom>
          <a:noFill/>
          <a:ln w="9525">
            <a:solidFill>
              <a:srgbClr val="D7E0EA"/>
            </a:solidFill>
          </a:ln>
        </p:spPr>
        <p:txBody>
          <a:bodyPr/>
          <a:lstStyle/>
          <a:p>
            <a:endParaRPr lang="en-SG"/>
          </a:p>
        </p:txBody>
      </p:sp>
      <p:sp>
        <p:nvSpPr>
          <p:cNvPr id="3" name="page-number">
            <a:extLst>
              <a:ext uri="{FF2B5EF4-FFF2-40B4-BE49-F238E27FC236}">
                <a16:creationId xmlns:a16="http://schemas.microsoft.com/office/drawing/2014/main" id="{C86EE2F7-3F7F-486A-BACC-D77E5F72D3E6}"/>
              </a:ext>
            </a:extLst>
          </p:cNvPr>
          <p:cNvSpPr>
            <a:spLocks noGrp="1"/>
          </p:cNvSpPr>
          <p:nvPr/>
        </p:nvSpPr>
        <p:spPr>
          <a:xfrm>
            <a:off x="10858500" y="6657975"/>
            <a:ext cx="781050" cy="142875"/>
          </a:xfrm>
          <a:prstGeom prst="rect">
            <a:avLst/>
          </a:prstGeom>
          <a:noFill/>
          <a:ln w="0">
            <a:noFill/>
          </a:ln>
        </p:spPr>
        <p:txBody>
          <a:bodyPr wrap="none" lIns="0" tIns="0" rIns="0" bIns="0" anchor="t">
            <a:noAutofit/>
          </a:bodyPr>
          <a:lstStyle/>
          <a:p>
            <a:pPr algn="r">
              <a:defRPr sz="840" b="0">
                <a:solidFill>
                  <a:srgbClr val="53667B"/>
                </a:solidFill>
                <a:latin typeface="Arial"/>
                <a:ea typeface="Arial"/>
                <a:cs typeface="Arial"/>
              </a:defRPr>
            </a:pPr>
            <a:r>
              <a:rPr sz="840" b="0">
                <a:solidFill>
                  <a:srgbClr val="53667B"/>
                </a:solidFill>
                <a:latin typeface="Arial"/>
                <a:ea typeface="Arial"/>
                <a:cs typeface="Arial"/>
              </a:rPr>
              <a:t>3 / 5</a:t>
            </a:r>
          </a:p>
        </p:txBody>
      </p:sp>
      <p:sp>
        <p:nvSpPr>
          <p:cNvPr id="4" name="sac-name">
            <a:extLst>
              <a:ext uri="{FF2B5EF4-FFF2-40B4-BE49-F238E27FC236}">
                <a16:creationId xmlns:a16="http://schemas.microsoft.com/office/drawing/2014/main" id="{B60C3EFC-4330-432A-983A-22950B5261FE}"/>
              </a:ext>
            </a:extLst>
          </p:cNvPr>
          <p:cNvSpPr>
            <a:spLocks noGrp="1"/>
          </p:cNvSpPr>
          <p:nvPr/>
        </p:nvSpPr>
        <p:spPr>
          <a:xfrm>
            <a:off x="552450" y="1628775"/>
            <a:ext cx="5314950" cy="428625"/>
          </a:xfrm>
          <a:prstGeom prst="rect">
            <a:avLst/>
          </a:prstGeom>
          <a:noFill/>
          <a:ln w="0">
            <a:noFill/>
          </a:ln>
        </p:spPr>
        <p:txBody>
          <a:bodyPr wrap="none" lIns="0" tIns="0" rIns="0" bIns="0" anchor="t">
            <a:noAutofit/>
          </a:bodyPr>
          <a:lstStyle/>
          <a:p>
            <a:pPr algn="l">
              <a:defRPr sz="2300" b="1">
                <a:solidFill>
                  <a:srgbClr val="087F83"/>
                </a:solidFill>
                <a:latin typeface="Arial"/>
                <a:ea typeface="Arial"/>
                <a:cs typeface="Arial"/>
              </a:defRPr>
            </a:pPr>
            <a:r>
              <a:rPr sz="2300" b="1">
                <a:solidFill>
                  <a:srgbClr val="087F83"/>
                </a:solidFill>
                <a:latin typeface="Arial"/>
                <a:ea typeface="Arial"/>
                <a:cs typeface="Arial"/>
              </a:rPr>
              <a:t>Soft Actor-Critic (SAC)</a:t>
            </a:r>
          </a:p>
        </p:txBody>
      </p:sp>
      <p:sp>
        <p:nvSpPr>
          <p:cNvPr id="5" name="sac-summary">
            <a:extLst>
              <a:ext uri="{FF2B5EF4-FFF2-40B4-BE49-F238E27FC236}">
                <a16:creationId xmlns:a16="http://schemas.microsoft.com/office/drawing/2014/main" id="{FE4BA1CF-3944-446F-B4BF-BC2B176956DF}"/>
              </a:ext>
            </a:extLst>
          </p:cNvPr>
          <p:cNvSpPr>
            <a:spLocks noGrp="1"/>
          </p:cNvSpPr>
          <p:nvPr/>
        </p:nvSpPr>
        <p:spPr>
          <a:xfrm>
            <a:off x="552450" y="2181225"/>
            <a:ext cx="5257800" cy="800100"/>
          </a:xfrm>
          <a:prstGeom prst="rect">
            <a:avLst/>
          </a:prstGeom>
          <a:noFill/>
          <a:ln w="0">
            <a:noFill/>
          </a:ln>
        </p:spPr>
        <p:txBody>
          <a:bodyPr wrap="none" lIns="0" tIns="0" rIns="0" bIns="0" anchor="t">
            <a:noAutofit/>
          </a:bodyPr>
          <a:lstStyle/>
          <a:p>
            <a:pPr algn="l">
              <a:defRPr sz="2000" b="0">
                <a:solidFill>
                  <a:srgbClr val="15283F"/>
                </a:solidFill>
                <a:latin typeface="Arial"/>
                <a:ea typeface="Arial"/>
                <a:cs typeface="Arial"/>
              </a:defRPr>
            </a:pPr>
            <a:r>
              <a:rPr sz="2000" b="0">
                <a:solidFill>
                  <a:srgbClr val="15283F"/>
                </a:solidFill>
                <a:latin typeface="Arial"/>
                <a:ea typeface="Arial"/>
                <a:cs typeface="Arial"/>
              </a:rPr>
              <a:t>Stochastic policy</a:t>
            </a:r>
          </a:p>
          <a:p>
            <a:pPr algn="l">
              <a:defRPr sz="2000" b="0">
                <a:solidFill>
                  <a:srgbClr val="15283F"/>
                </a:solidFill>
                <a:latin typeface="Arial"/>
                <a:ea typeface="Arial"/>
                <a:cs typeface="Arial"/>
              </a:defRPr>
            </a:pPr>
            <a:r>
              <a:rPr sz="2000" b="0">
                <a:solidFill>
                  <a:srgbClr val="15283F"/>
                </a:solidFill>
                <a:latin typeface="Arial"/>
                <a:ea typeface="Arial"/>
                <a:cs typeface="Arial"/>
              </a:rPr>
              <a:t>Entropy regularization</a:t>
            </a:r>
          </a:p>
        </p:txBody>
      </p:sp>
      <p:sp>
        <p:nvSpPr>
          <p:cNvPr id="6" name="td3-name">
            <a:extLst>
              <a:ext uri="{FF2B5EF4-FFF2-40B4-BE49-F238E27FC236}">
                <a16:creationId xmlns:a16="http://schemas.microsoft.com/office/drawing/2014/main" id="{5FCA5817-72E3-4205-B975-8D63F8857F9D}"/>
              </a:ext>
            </a:extLst>
          </p:cNvPr>
          <p:cNvSpPr>
            <a:spLocks noGrp="1"/>
          </p:cNvSpPr>
          <p:nvPr/>
        </p:nvSpPr>
        <p:spPr>
          <a:xfrm>
            <a:off x="6419850" y="1628775"/>
            <a:ext cx="5219700" cy="428625"/>
          </a:xfrm>
          <a:prstGeom prst="rect">
            <a:avLst/>
          </a:prstGeom>
          <a:noFill/>
          <a:ln w="0">
            <a:noFill/>
          </a:ln>
        </p:spPr>
        <p:txBody>
          <a:bodyPr wrap="none" lIns="0" tIns="0" rIns="0" bIns="0" anchor="t">
            <a:noAutofit/>
          </a:bodyPr>
          <a:lstStyle/>
          <a:p>
            <a:pPr algn="l">
              <a:defRPr sz="2300" b="1">
                <a:solidFill>
                  <a:srgbClr val="4366A8"/>
                </a:solidFill>
                <a:latin typeface="Arial"/>
                <a:ea typeface="Arial"/>
                <a:cs typeface="Arial"/>
              </a:defRPr>
            </a:pPr>
            <a:r>
              <a:rPr sz="2300" b="1">
                <a:solidFill>
                  <a:srgbClr val="4366A8"/>
                </a:solidFill>
                <a:latin typeface="Arial"/>
                <a:ea typeface="Arial"/>
                <a:cs typeface="Arial"/>
              </a:rPr>
              <a:t>Twin Delayed DDPG (TD3)</a:t>
            </a:r>
          </a:p>
        </p:txBody>
      </p:sp>
      <p:sp>
        <p:nvSpPr>
          <p:cNvPr id="7" name="td3-summary">
            <a:extLst>
              <a:ext uri="{FF2B5EF4-FFF2-40B4-BE49-F238E27FC236}">
                <a16:creationId xmlns:a16="http://schemas.microsoft.com/office/drawing/2014/main" id="{2A1A1B71-88EB-46EA-811D-4D9C6183A3B7}"/>
              </a:ext>
            </a:extLst>
          </p:cNvPr>
          <p:cNvSpPr>
            <a:spLocks noGrp="1"/>
          </p:cNvSpPr>
          <p:nvPr/>
        </p:nvSpPr>
        <p:spPr>
          <a:xfrm>
            <a:off x="6419850" y="2181225"/>
            <a:ext cx="5219700" cy="800100"/>
          </a:xfrm>
          <a:prstGeom prst="rect">
            <a:avLst/>
          </a:prstGeom>
          <a:noFill/>
          <a:ln w="0">
            <a:noFill/>
          </a:ln>
        </p:spPr>
        <p:txBody>
          <a:bodyPr wrap="none" lIns="0" tIns="0" rIns="0" bIns="0" anchor="t">
            <a:noAutofit/>
          </a:bodyPr>
          <a:lstStyle/>
          <a:p>
            <a:pPr algn="l">
              <a:defRPr sz="2000" b="0">
                <a:solidFill>
                  <a:srgbClr val="15283F"/>
                </a:solidFill>
                <a:latin typeface="Arial"/>
                <a:ea typeface="Arial"/>
                <a:cs typeface="Arial"/>
              </a:defRPr>
            </a:pPr>
            <a:r>
              <a:rPr sz="2000" b="0">
                <a:solidFill>
                  <a:srgbClr val="15283F"/>
                </a:solidFill>
                <a:latin typeface="Arial"/>
                <a:ea typeface="Arial"/>
                <a:cs typeface="Arial"/>
              </a:rPr>
              <a:t>Deterministic policy</a:t>
            </a:r>
          </a:p>
          <a:p>
            <a:pPr algn="l">
              <a:defRPr sz="2000" b="0">
                <a:solidFill>
                  <a:srgbClr val="15283F"/>
                </a:solidFill>
                <a:latin typeface="Arial"/>
                <a:ea typeface="Arial"/>
                <a:cs typeface="Arial"/>
              </a:defRPr>
            </a:pPr>
            <a:r>
              <a:rPr sz="2000" b="0">
                <a:solidFill>
                  <a:srgbClr val="15283F"/>
                </a:solidFill>
                <a:latin typeface="Arial"/>
                <a:ea typeface="Arial"/>
                <a:cs typeface="Arial"/>
              </a:rPr>
              <a:t>Delayed actor updates</a:t>
            </a:r>
          </a:p>
        </p:txBody>
      </p:sp>
      <p:sp>
        <p:nvSpPr>
          <p:cNvPr id="8" name="learner-divider">
            <a:extLst>
              <a:ext uri="{FF2B5EF4-FFF2-40B4-BE49-F238E27FC236}">
                <a16:creationId xmlns:a16="http://schemas.microsoft.com/office/drawing/2014/main" id="{E7A8AEFD-E542-4CEE-92A0-DE83C853F67E}"/>
              </a:ext>
            </a:extLst>
          </p:cNvPr>
          <p:cNvSpPr>
            <a:spLocks noGrp="1"/>
          </p:cNvSpPr>
          <p:nvPr/>
        </p:nvSpPr>
        <p:spPr>
          <a:xfrm>
            <a:off x="552450" y="3114675"/>
            <a:ext cx="11087100" cy="0"/>
          </a:xfrm>
          <a:prstGeom prst="line">
            <a:avLst/>
          </a:prstGeom>
          <a:noFill/>
          <a:ln w="11430">
            <a:solidFill>
              <a:srgbClr val="D7E0EA"/>
            </a:solidFill>
          </a:ln>
        </p:spPr>
        <p:txBody>
          <a:bodyPr/>
          <a:lstStyle/>
          <a:p>
            <a:endParaRPr lang="en-SG"/>
          </a:p>
        </p:txBody>
      </p:sp>
      <p:sp>
        <p:nvSpPr>
          <p:cNvPr id="9" name="her-label">
            <a:extLst>
              <a:ext uri="{FF2B5EF4-FFF2-40B4-BE49-F238E27FC236}">
                <a16:creationId xmlns:a16="http://schemas.microsoft.com/office/drawing/2014/main" id="{C613969F-A5DD-476D-8EE0-28391103AE45}"/>
              </a:ext>
            </a:extLst>
          </p:cNvPr>
          <p:cNvSpPr>
            <a:spLocks noGrp="1"/>
          </p:cNvSpPr>
          <p:nvPr/>
        </p:nvSpPr>
        <p:spPr>
          <a:xfrm>
            <a:off x="552450" y="3343275"/>
            <a:ext cx="11087100" cy="381000"/>
          </a:xfrm>
          <a:prstGeom prst="rect">
            <a:avLst/>
          </a:prstGeom>
          <a:noFill/>
          <a:ln w="0">
            <a:noFill/>
          </a:ln>
        </p:spPr>
        <p:txBody>
          <a:bodyPr wrap="none" lIns="0" tIns="0" rIns="0" bIns="0" anchor="t">
            <a:noAutofit/>
          </a:bodyPr>
          <a:lstStyle/>
          <a:p>
            <a:pPr algn="l">
              <a:defRPr sz="2000" b="1">
                <a:solidFill>
                  <a:srgbClr val="087F83"/>
                </a:solidFill>
                <a:latin typeface="Arial"/>
                <a:ea typeface="Arial"/>
                <a:cs typeface="Arial"/>
              </a:defRPr>
            </a:pPr>
            <a:r>
              <a:rPr sz="2000" b="1">
                <a:solidFill>
                  <a:srgbClr val="087F83"/>
                </a:solidFill>
                <a:latin typeface="Arial"/>
                <a:ea typeface="Arial"/>
                <a:cs typeface="Arial"/>
              </a:rPr>
              <a:t>Hindsight experience replay (HER)</a:t>
            </a:r>
          </a:p>
        </p:txBody>
      </p:sp>
      <p:sp>
        <p:nvSpPr>
          <p:cNvPr id="10" name="episode">
            <a:extLst>
              <a:ext uri="{FF2B5EF4-FFF2-40B4-BE49-F238E27FC236}">
                <a16:creationId xmlns:a16="http://schemas.microsoft.com/office/drawing/2014/main" id="{EBE70459-69F7-4A2A-AC23-22C0E02974A1}"/>
              </a:ext>
            </a:extLst>
          </p:cNvPr>
          <p:cNvSpPr>
            <a:spLocks noGrp="1"/>
          </p:cNvSpPr>
          <p:nvPr/>
        </p:nvSpPr>
        <p:spPr>
          <a:xfrm>
            <a:off x="552450" y="4105275"/>
            <a:ext cx="3476625" cy="742950"/>
          </a:xfrm>
          <a:prstGeom prst="rect">
            <a:avLst/>
          </a:prstGeom>
          <a:solidFill>
            <a:srgbClr val="FFFFFF"/>
          </a:solidFill>
          <a:ln w="13335">
            <a:solidFill>
              <a:srgbClr val="D7E0EA"/>
            </a:solidFill>
          </a:ln>
        </p:spPr>
        <p:txBody>
          <a:bodyPr wrap="none" lIns="133350" tIns="95250" rIns="133350" bIns="95250" anchor="ctr">
            <a:noAutofit/>
          </a:bodyPr>
          <a:lstStyle/>
          <a:p>
            <a:pPr algn="ctr">
              <a:defRPr sz="2100" b="1">
                <a:solidFill>
                  <a:srgbClr val="15283F"/>
                </a:solidFill>
                <a:latin typeface="Arial"/>
                <a:ea typeface="Arial"/>
                <a:cs typeface="Arial"/>
              </a:defRPr>
            </a:pPr>
            <a:r>
              <a:rPr sz="2100" b="1">
                <a:solidFill>
                  <a:srgbClr val="15283F"/>
                </a:solidFill>
                <a:latin typeface="Arial"/>
                <a:ea typeface="Arial"/>
                <a:cs typeface="Arial"/>
              </a:rPr>
              <a:t>Goal A, reached B</a:t>
            </a:r>
          </a:p>
        </p:txBody>
      </p:sp>
      <p:sp>
        <p:nvSpPr>
          <p:cNvPr id="11" name="original-replay">
            <a:extLst>
              <a:ext uri="{FF2B5EF4-FFF2-40B4-BE49-F238E27FC236}">
                <a16:creationId xmlns:a16="http://schemas.microsoft.com/office/drawing/2014/main" id="{C3766799-D9EE-4FC3-8832-15A0642F8875}"/>
              </a:ext>
            </a:extLst>
          </p:cNvPr>
          <p:cNvSpPr>
            <a:spLocks noGrp="1"/>
          </p:cNvSpPr>
          <p:nvPr/>
        </p:nvSpPr>
        <p:spPr>
          <a:xfrm>
            <a:off x="6343650" y="3810000"/>
            <a:ext cx="5295900" cy="609600"/>
          </a:xfrm>
          <a:prstGeom prst="rect">
            <a:avLst/>
          </a:prstGeom>
          <a:solidFill>
            <a:srgbClr val="FFF3DF"/>
          </a:solidFill>
          <a:ln w="13335">
            <a:solidFill>
              <a:srgbClr val="D7E0EA"/>
            </a:solidFill>
          </a:ln>
        </p:spPr>
        <p:txBody>
          <a:bodyPr wrap="none" lIns="133350" tIns="95250" rIns="133350" bIns="95250" anchor="ctr">
            <a:noAutofit/>
          </a:bodyPr>
          <a:lstStyle/>
          <a:p>
            <a:pPr algn="ctr">
              <a:defRPr sz="2000" b="0">
                <a:solidFill>
                  <a:srgbClr val="B46D16"/>
                </a:solidFill>
                <a:latin typeface="Arial"/>
                <a:ea typeface="Arial"/>
                <a:cs typeface="Arial"/>
              </a:defRPr>
            </a:pPr>
            <a:r>
              <a:rPr sz="2000" b="0">
                <a:solidFill>
                  <a:srgbClr val="B46D16"/>
                </a:solidFill>
                <a:latin typeface="Arial"/>
                <a:ea typeface="Arial"/>
                <a:cs typeface="Arial"/>
              </a:rPr>
              <a:t>Replay with goal A</a:t>
            </a:r>
          </a:p>
        </p:txBody>
      </p:sp>
      <p:sp>
        <p:nvSpPr>
          <p:cNvPr id="12" name="hindsight-replay">
            <a:extLst>
              <a:ext uri="{FF2B5EF4-FFF2-40B4-BE49-F238E27FC236}">
                <a16:creationId xmlns:a16="http://schemas.microsoft.com/office/drawing/2014/main" id="{397E8457-0E91-4F25-B376-B36133F3A462}"/>
              </a:ext>
            </a:extLst>
          </p:cNvPr>
          <p:cNvSpPr>
            <a:spLocks noGrp="1"/>
          </p:cNvSpPr>
          <p:nvPr/>
        </p:nvSpPr>
        <p:spPr>
          <a:xfrm>
            <a:off x="6343650" y="4591050"/>
            <a:ext cx="5295900" cy="609600"/>
          </a:xfrm>
          <a:prstGeom prst="rect">
            <a:avLst/>
          </a:prstGeom>
          <a:solidFill>
            <a:srgbClr val="E5F3F1"/>
          </a:solidFill>
          <a:ln w="13335">
            <a:solidFill>
              <a:srgbClr val="D7E0EA"/>
            </a:solidFill>
          </a:ln>
        </p:spPr>
        <p:txBody>
          <a:bodyPr wrap="none" lIns="133350" tIns="95250" rIns="133350" bIns="95250" anchor="ctr">
            <a:noAutofit/>
          </a:bodyPr>
          <a:lstStyle/>
          <a:p>
            <a:pPr algn="ctr">
              <a:defRPr sz="2000" b="1">
                <a:solidFill>
                  <a:srgbClr val="087F83"/>
                </a:solidFill>
                <a:latin typeface="Arial"/>
                <a:ea typeface="Arial"/>
                <a:cs typeface="Arial"/>
              </a:defRPr>
            </a:pPr>
            <a:r>
              <a:rPr sz="2000" b="1">
                <a:solidFill>
                  <a:srgbClr val="087F83"/>
                </a:solidFill>
                <a:latin typeface="Arial"/>
                <a:ea typeface="Arial"/>
                <a:cs typeface="Arial"/>
              </a:rPr>
              <a:t>Replay with achieved goal B</a:t>
            </a:r>
          </a:p>
        </p:txBody>
      </p:sp>
      <p:cxnSp>
        <p:nvCxnSpPr>
          <p:cNvPr id="28" name="Connector: Elbow 27"/>
          <p:cNvCxnSpPr>
            <a:stCxn id="10" idx="3"/>
            <a:endCxn id="11" idx="1"/>
          </p:cNvCxnSpPr>
          <p:nvPr/>
        </p:nvCxnSpPr>
        <p:spPr>
          <a:xfrm flipV="1">
            <a:off x="4029075" y="4114800"/>
            <a:ext cx="2314575" cy="361950"/>
          </a:xfrm>
          <a:prstGeom prst="bentConnector3">
            <a:avLst>
              <a:gd name="adj1" fmla="val 50000"/>
            </a:avLst>
          </a:prstGeom>
          <a:ln w="19050">
            <a:solidFill>
              <a:srgbClr val="53667B"/>
            </a:solidFill>
            <a:tailEnd type="triangle" w="sm" len="sm"/>
          </a:ln>
        </p:spPr>
      </p:cxnSp>
      <p:cxnSp>
        <p:nvCxnSpPr>
          <p:cNvPr id="29" name="Connector: Elbow 28"/>
          <p:cNvCxnSpPr>
            <a:stCxn id="10" idx="3"/>
            <a:endCxn id="12" idx="1"/>
          </p:cNvCxnSpPr>
          <p:nvPr/>
        </p:nvCxnSpPr>
        <p:spPr>
          <a:xfrm>
            <a:off x="4029075" y="4476750"/>
            <a:ext cx="2314575" cy="419100"/>
          </a:xfrm>
          <a:prstGeom prst="bentConnector3">
            <a:avLst>
              <a:gd name="adj1" fmla="val 50000"/>
            </a:avLst>
          </a:prstGeom>
          <a:ln w="19050">
            <a:solidFill>
              <a:srgbClr val="087F83"/>
            </a:solidFill>
            <a:tailEnd type="triangle" w="sm" len="sm"/>
          </a:ln>
        </p:spPr>
      </p:cxnSp>
      <p:sp>
        <p:nvSpPr>
          <p:cNvPr id="15" name="architecture">
            <a:extLst>
              <a:ext uri="{FF2B5EF4-FFF2-40B4-BE49-F238E27FC236}">
                <a16:creationId xmlns:a16="http://schemas.microsoft.com/office/drawing/2014/main" id="{AA175AD1-E5F2-4657-8369-0DF0B5F8EDF9}"/>
              </a:ext>
            </a:extLst>
          </p:cNvPr>
          <p:cNvSpPr>
            <a:spLocks noGrp="1"/>
          </p:cNvSpPr>
          <p:nvPr/>
        </p:nvSpPr>
        <p:spPr>
          <a:xfrm>
            <a:off x="552450" y="5610225"/>
            <a:ext cx="11087100" cy="676275"/>
          </a:xfrm>
          <a:prstGeom prst="rect">
            <a:avLst/>
          </a:prstGeom>
          <a:noFill/>
          <a:ln w="0">
            <a:noFill/>
          </a:ln>
        </p:spPr>
        <p:txBody>
          <a:bodyPr wrap="none" lIns="0" tIns="0" rIns="0" bIns="0" anchor="t">
            <a:noAutofit/>
          </a:bodyPr>
          <a:lstStyle/>
          <a:p>
            <a:pPr algn="l">
              <a:defRPr sz="1900" b="0">
                <a:solidFill>
                  <a:srgbClr val="15283F"/>
                </a:solidFill>
                <a:latin typeface="Arial"/>
                <a:ea typeface="Arial"/>
                <a:cs typeface="Arial"/>
              </a:defRPr>
            </a:pPr>
            <a:r>
              <a:rPr sz="1900" b="0">
                <a:solidFill>
                  <a:srgbClr val="15283F"/>
                </a:solidFill>
                <a:latin typeface="Arial"/>
                <a:ea typeface="Arial"/>
                <a:cs typeface="Arial"/>
              </a:rPr>
              <a:t>Separate skill training with curricula</a:t>
            </a:r>
          </a:p>
          <a:p>
            <a:pPr algn="l">
              <a:defRPr sz="1900" b="0">
                <a:solidFill>
                  <a:srgbClr val="15283F"/>
                </a:solidFill>
                <a:latin typeface="Arial"/>
                <a:ea typeface="Arial"/>
                <a:cs typeface="Arial"/>
              </a:defRPr>
            </a:pPr>
            <a:r>
              <a:rPr sz="1900" b="0">
                <a:solidFill>
                  <a:srgbClr val="15283F"/>
                </a:solidFill>
                <a:latin typeface="Arial"/>
                <a:ea typeface="Arial"/>
                <a:cs typeface="Arial"/>
              </a:rPr>
              <a:t>Fixed supervisor for complete-task execution</a:t>
            </a:r>
          </a:p>
        </p:txBody>
      </p:sp>
    </p:spTree>
    <p:extLst>
      <p:ext uri="{BB962C8B-B14F-4D97-AF65-F5344CB8AC3E}">
        <p14:creationId xmlns:p14="http://schemas.microsoft.com/office/powerpoint/2010/main" val="1172483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679B425B-BB28-4E55-85F7-E131CF759068}"/>
              </a:ext>
            </a:extLst>
          </p:cNvPr>
          <p:cNvSpPr>
            <a:spLocks noGrp="1"/>
          </p:cNvSpPr>
          <p:nvPr/>
        </p:nvSpPr>
        <p:spPr>
          <a:xfrm>
            <a:off x="552450" y="666750"/>
            <a:ext cx="11087100" cy="619125"/>
          </a:xfrm>
          <a:prstGeom prst="rect">
            <a:avLst/>
          </a:prstGeom>
          <a:noFill/>
          <a:ln w="0">
            <a:noFill/>
          </a:ln>
        </p:spPr>
        <p:txBody>
          <a:bodyPr wrap="none" lIns="0" tIns="0" rIns="0" bIns="0" anchor="t">
            <a:noAutofit/>
          </a:bodyPr>
          <a:lstStyle/>
          <a:p>
            <a:pPr algn="l">
              <a:defRPr sz="3100" b="1">
                <a:solidFill>
                  <a:srgbClr val="15283F"/>
                </a:solidFill>
                <a:latin typeface="Arial"/>
                <a:ea typeface="Arial"/>
                <a:cs typeface="Arial"/>
              </a:defRPr>
            </a:pPr>
            <a:r>
              <a:rPr sz="3100" b="1">
                <a:solidFill>
                  <a:srgbClr val="15283F"/>
                </a:solidFill>
                <a:latin typeface="Arial"/>
                <a:ea typeface="Arial"/>
                <a:cs typeface="Arial"/>
              </a:rPr>
              <a:t>Experimental design</a:t>
            </a:r>
          </a:p>
        </p:txBody>
      </p:sp>
      <p:sp>
        <p:nvSpPr>
          <p:cNvPr id="2" name="footer-rule">
            <a:extLst>
              <a:ext uri="{FF2B5EF4-FFF2-40B4-BE49-F238E27FC236}">
                <a16:creationId xmlns:a16="http://schemas.microsoft.com/office/drawing/2014/main" id="{DB977C79-5A3A-41EA-8447-C3063BCD0F50}"/>
              </a:ext>
            </a:extLst>
          </p:cNvPr>
          <p:cNvSpPr>
            <a:spLocks noGrp="1"/>
          </p:cNvSpPr>
          <p:nvPr/>
        </p:nvSpPr>
        <p:spPr>
          <a:xfrm>
            <a:off x="552450" y="6572250"/>
            <a:ext cx="11087100" cy="0"/>
          </a:xfrm>
          <a:prstGeom prst="line">
            <a:avLst/>
          </a:prstGeom>
          <a:noFill/>
          <a:ln w="9525">
            <a:solidFill>
              <a:srgbClr val="D7E0EA"/>
            </a:solidFill>
          </a:ln>
        </p:spPr>
        <p:txBody>
          <a:bodyPr/>
          <a:lstStyle/>
          <a:p>
            <a:endParaRPr lang="en-SG"/>
          </a:p>
        </p:txBody>
      </p:sp>
      <p:sp>
        <p:nvSpPr>
          <p:cNvPr id="3" name="page-number">
            <a:extLst>
              <a:ext uri="{FF2B5EF4-FFF2-40B4-BE49-F238E27FC236}">
                <a16:creationId xmlns:a16="http://schemas.microsoft.com/office/drawing/2014/main" id="{3AD2CDD8-7DB2-4EE0-9561-55F4C47377E8}"/>
              </a:ext>
            </a:extLst>
          </p:cNvPr>
          <p:cNvSpPr>
            <a:spLocks noGrp="1"/>
          </p:cNvSpPr>
          <p:nvPr/>
        </p:nvSpPr>
        <p:spPr>
          <a:xfrm>
            <a:off x="10858500" y="6657975"/>
            <a:ext cx="781050" cy="142875"/>
          </a:xfrm>
          <a:prstGeom prst="rect">
            <a:avLst/>
          </a:prstGeom>
          <a:noFill/>
          <a:ln w="0">
            <a:noFill/>
          </a:ln>
        </p:spPr>
        <p:txBody>
          <a:bodyPr wrap="none" lIns="0" tIns="0" rIns="0" bIns="0" anchor="t">
            <a:noAutofit/>
          </a:bodyPr>
          <a:lstStyle/>
          <a:p>
            <a:pPr algn="r">
              <a:defRPr sz="840" b="0">
                <a:solidFill>
                  <a:srgbClr val="53667B"/>
                </a:solidFill>
                <a:latin typeface="Arial"/>
                <a:ea typeface="Arial"/>
                <a:cs typeface="Arial"/>
              </a:defRPr>
            </a:pPr>
            <a:r>
              <a:rPr sz="840" b="0">
                <a:solidFill>
                  <a:srgbClr val="53667B"/>
                </a:solidFill>
                <a:latin typeface="Arial"/>
                <a:ea typeface="Arial"/>
                <a:cs typeface="Arial"/>
              </a:rPr>
              <a:t>4 / 5</a:t>
            </a:r>
          </a:p>
        </p:txBody>
      </p:sp>
      <p:sp>
        <p:nvSpPr>
          <p:cNvPr id="4" name="platform">
            <a:extLst>
              <a:ext uri="{FF2B5EF4-FFF2-40B4-BE49-F238E27FC236}">
                <a16:creationId xmlns:a16="http://schemas.microsoft.com/office/drawing/2014/main" id="{CE142D93-D336-4887-9A0B-FB54FF9C50DC}"/>
              </a:ext>
            </a:extLst>
          </p:cNvPr>
          <p:cNvSpPr>
            <a:spLocks noGrp="1"/>
          </p:cNvSpPr>
          <p:nvPr/>
        </p:nvSpPr>
        <p:spPr>
          <a:xfrm>
            <a:off x="552450" y="1504950"/>
            <a:ext cx="11087100" cy="419100"/>
          </a:xfrm>
          <a:prstGeom prst="rect">
            <a:avLst/>
          </a:prstGeom>
          <a:noFill/>
          <a:ln w="0">
            <a:noFill/>
          </a:ln>
        </p:spPr>
        <p:txBody>
          <a:bodyPr wrap="none" lIns="0" tIns="0" rIns="0" bIns="0" anchor="t">
            <a:noAutofit/>
          </a:bodyPr>
          <a:lstStyle/>
          <a:p>
            <a:pPr algn="l">
              <a:defRPr sz="2100" b="0">
                <a:solidFill>
                  <a:srgbClr val="53667B"/>
                </a:solidFill>
                <a:latin typeface="Arial"/>
                <a:ea typeface="Arial"/>
                <a:cs typeface="Arial"/>
              </a:defRPr>
            </a:pPr>
            <a:r>
              <a:rPr sz="2100" b="0">
                <a:solidFill>
                  <a:srgbClr val="53667B"/>
                </a:solidFill>
                <a:latin typeface="Arial"/>
                <a:ea typeface="Arial"/>
                <a:cs typeface="Arial"/>
              </a:rPr>
              <a:t>Same wheeled base and arm</a:t>
            </a:r>
          </a:p>
        </p:txBody>
      </p:sp>
      <p:graphicFrame>
        <p:nvGraphicFramePr>
          <p:cNvPr id="12" name="Table 11"/>
          <p:cNvGraphicFramePr/>
          <p:nvPr/>
        </p:nvGraphicFramePr>
        <p:xfrm>
          <a:off x="552450" y="2190750"/>
          <a:ext cx="11087100" cy="2628900"/>
        </p:xfrm>
        <a:graphic>
          <a:graphicData uri="http://schemas.openxmlformats.org/drawingml/2006/table">
            <a:tbl>
              <a:tblPr/>
              <a:tblGrid>
                <a:gridCol w="49911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723900">
                <a:tc>
                  <a:txBody>
                    <a:bodyPr/>
                    <a:lstStyle/>
                    <a:p>
                      <a:pPr algn="l"/>
                      <a:r>
                        <a:rPr sz="2000" b="1">
                          <a:solidFill>
                            <a:srgbClr val="FFFFFF"/>
                          </a:solidFill>
                          <a:latin typeface="Arial"/>
                          <a:ea typeface="Arial"/>
                          <a:cs typeface="Arial"/>
                        </a:rPr>
                        <a:t>Robot configuration</a:t>
                      </a:r>
                    </a:p>
                  </a:txBody>
                  <a:tcPr anchor="ctr">
                    <a:solidFill>
                      <a:srgbClr val="15283F"/>
                    </a:solidFill>
                  </a:tcPr>
                </a:tc>
                <a:tc>
                  <a:txBody>
                    <a:bodyPr/>
                    <a:lstStyle/>
                    <a:p>
                      <a:pPr algn="ctr"/>
                      <a:r>
                        <a:rPr sz="2000" b="1">
                          <a:solidFill>
                            <a:srgbClr val="FFFFFF"/>
                          </a:solidFill>
                          <a:latin typeface="Arial"/>
                          <a:ea typeface="Arial"/>
                          <a:cs typeface="Arial"/>
                        </a:rPr>
                        <a:t>SAC + HER</a:t>
                      </a:r>
                    </a:p>
                  </a:txBody>
                  <a:tcPr anchor="ctr">
                    <a:solidFill>
                      <a:srgbClr val="15283F"/>
                    </a:solidFill>
                  </a:tcPr>
                </a:tc>
                <a:tc>
                  <a:txBody>
                    <a:bodyPr/>
                    <a:lstStyle/>
                    <a:p>
                      <a:pPr algn="ctr"/>
                      <a:r>
                        <a:rPr sz="2000" b="1">
                          <a:solidFill>
                            <a:srgbClr val="FFFFFF"/>
                          </a:solidFill>
                          <a:latin typeface="Arial"/>
                          <a:ea typeface="Arial"/>
                          <a:cs typeface="Arial"/>
                        </a:rPr>
                        <a:t>TD3 + HER</a:t>
                      </a:r>
                    </a:p>
                  </a:txBody>
                  <a:tcPr anchor="ctr">
                    <a:solidFill>
                      <a:srgbClr val="15283F"/>
                    </a:solidFill>
                  </a:tcPr>
                </a:tc>
                <a:extLst>
                  <a:ext uri="{0D108BD9-81ED-4DB2-BD59-A6C34878D82A}">
                    <a16:rowId xmlns:a16="http://schemas.microsoft.com/office/drawing/2014/main" val="10000"/>
                  </a:ext>
                </a:extLst>
              </a:tr>
              <a:tr h="952500">
                <a:tc>
                  <a:txBody>
                    <a:bodyPr/>
                    <a:lstStyle/>
                    <a:p>
                      <a:pPr algn="l"/>
                      <a:r>
                        <a:rPr sz="2200" b="1">
                          <a:solidFill>
                            <a:srgbClr val="15283F"/>
                          </a:solidFill>
                          <a:latin typeface="Arial"/>
                          <a:ea typeface="Arial"/>
                          <a:cs typeface="Arial"/>
                        </a:rPr>
                        <a:t>Original gripper</a:t>
                      </a:r>
                    </a:p>
                  </a:txBody>
                  <a:tcPr anchor="ctr">
                    <a:solidFill>
                      <a:srgbClr val="FFFFFF"/>
                    </a:solidFill>
                  </a:tcPr>
                </a:tc>
                <a:tc>
                  <a:txBody>
                    <a:bodyPr/>
                    <a:lstStyle/>
                    <a:p>
                      <a:pPr algn="ctr"/>
                      <a:r>
                        <a:rPr sz="2200" b="0">
                          <a:solidFill>
                            <a:srgbClr val="15283F"/>
                          </a:solidFill>
                          <a:latin typeface="Arial"/>
                          <a:ea typeface="Arial"/>
                          <a:cs typeface="Arial"/>
                        </a:rPr>
                        <a:t>3 seeds</a:t>
                      </a:r>
                    </a:p>
                  </a:txBody>
                  <a:tcPr anchor="ctr">
                    <a:solidFill>
                      <a:srgbClr val="FFFFFF"/>
                    </a:solidFill>
                  </a:tcPr>
                </a:tc>
                <a:tc>
                  <a:txBody>
                    <a:bodyPr/>
                    <a:lstStyle/>
                    <a:p>
                      <a:pPr algn="ctr"/>
                      <a:r>
                        <a:rPr sz="2200" b="0">
                          <a:solidFill>
                            <a:srgbClr val="15283F"/>
                          </a:solidFill>
                          <a:latin typeface="Arial"/>
                          <a:ea typeface="Arial"/>
                          <a:cs typeface="Arial"/>
                        </a:rPr>
                        <a:t>3 seeds</a:t>
                      </a:r>
                    </a:p>
                  </a:txBody>
                  <a:tcPr anchor="ctr">
                    <a:solidFill>
                      <a:srgbClr val="FFFFFF"/>
                    </a:solidFill>
                  </a:tcPr>
                </a:tc>
                <a:extLst>
                  <a:ext uri="{0D108BD9-81ED-4DB2-BD59-A6C34878D82A}">
                    <a16:rowId xmlns:a16="http://schemas.microsoft.com/office/drawing/2014/main" val="10001"/>
                  </a:ext>
                </a:extLst>
              </a:tr>
              <a:tr h="952500">
                <a:tc>
                  <a:txBody>
                    <a:bodyPr/>
                    <a:lstStyle/>
                    <a:p>
                      <a:pPr algn="l"/>
                      <a:r>
                        <a:rPr sz="2200" b="1">
                          <a:solidFill>
                            <a:srgbClr val="15283F"/>
                          </a:solidFill>
                          <a:latin typeface="Arial"/>
                          <a:ea typeface="Arial"/>
                          <a:cs typeface="Arial"/>
                        </a:rPr>
                        <a:t>Modified gripper</a:t>
                      </a:r>
                    </a:p>
                  </a:txBody>
                  <a:tcPr anchor="ctr">
                    <a:solidFill>
                      <a:srgbClr val="E5F3F1"/>
                    </a:solidFill>
                  </a:tcPr>
                </a:tc>
                <a:tc>
                  <a:txBody>
                    <a:bodyPr/>
                    <a:lstStyle/>
                    <a:p>
                      <a:pPr algn="ctr"/>
                      <a:r>
                        <a:rPr sz="2200" b="0">
                          <a:solidFill>
                            <a:srgbClr val="15283F"/>
                          </a:solidFill>
                          <a:latin typeface="Arial"/>
                          <a:ea typeface="Arial"/>
                          <a:cs typeface="Arial"/>
                        </a:rPr>
                        <a:t>3 seeds</a:t>
                      </a:r>
                    </a:p>
                  </a:txBody>
                  <a:tcPr anchor="ctr">
                    <a:solidFill>
                      <a:srgbClr val="E5F3F1"/>
                    </a:solidFill>
                  </a:tcPr>
                </a:tc>
                <a:tc>
                  <a:txBody>
                    <a:bodyPr/>
                    <a:lstStyle/>
                    <a:p>
                      <a:pPr algn="ctr"/>
                      <a:r>
                        <a:rPr sz="2200" b="0">
                          <a:solidFill>
                            <a:srgbClr val="15283F"/>
                          </a:solidFill>
                          <a:latin typeface="Arial"/>
                          <a:ea typeface="Arial"/>
                          <a:cs typeface="Arial"/>
                        </a:rPr>
                        <a:t>3 seeds</a:t>
                      </a:r>
                    </a:p>
                  </a:txBody>
                  <a:tcPr anchor="ctr">
                    <a:solidFill>
                      <a:srgbClr val="E5F3F1"/>
                    </a:solidFill>
                  </a:tcPr>
                </a:tc>
                <a:extLst>
                  <a:ext uri="{0D108BD9-81ED-4DB2-BD59-A6C34878D82A}">
                    <a16:rowId xmlns:a16="http://schemas.microsoft.com/office/drawing/2014/main" val="10002"/>
                  </a:ext>
                </a:extLst>
              </a:tr>
            </a:tbl>
          </a:graphicData>
        </a:graphic>
      </p:graphicFrame>
      <p:sp>
        <p:nvSpPr>
          <p:cNvPr id="6" name="system-count">
            <a:extLst>
              <a:ext uri="{FF2B5EF4-FFF2-40B4-BE49-F238E27FC236}">
                <a16:creationId xmlns:a16="http://schemas.microsoft.com/office/drawing/2014/main" id="{3A5358E0-5ABE-4CB3-9435-DD4002578C0A}"/>
              </a:ext>
            </a:extLst>
          </p:cNvPr>
          <p:cNvSpPr>
            <a:spLocks noGrp="1"/>
          </p:cNvSpPr>
          <p:nvPr/>
        </p:nvSpPr>
        <p:spPr>
          <a:xfrm>
            <a:off x="552450" y="5248275"/>
            <a:ext cx="11087100" cy="457200"/>
          </a:xfrm>
          <a:prstGeom prst="rect">
            <a:avLst/>
          </a:prstGeom>
          <a:noFill/>
          <a:ln w="0">
            <a:noFill/>
          </a:ln>
        </p:spPr>
        <p:txBody>
          <a:bodyPr wrap="none" lIns="0" tIns="0" rIns="0" bIns="0" anchor="t">
            <a:noAutofit/>
          </a:bodyPr>
          <a:lstStyle/>
          <a:p>
            <a:pPr algn="l">
              <a:defRPr sz="2400" b="1">
                <a:solidFill>
                  <a:srgbClr val="087F83"/>
                </a:solidFill>
                <a:latin typeface="Arial"/>
                <a:ea typeface="Arial"/>
                <a:cs typeface="Arial"/>
              </a:defRPr>
            </a:pPr>
            <a:r>
              <a:rPr sz="2400" b="1">
                <a:solidFill>
                  <a:srgbClr val="087F83"/>
                </a:solidFill>
                <a:latin typeface="Arial"/>
                <a:ea typeface="Arial"/>
                <a:cs typeface="Arial"/>
              </a:rPr>
              <a:t>12 independently trained systems</a:t>
            </a:r>
          </a:p>
        </p:txBody>
      </p:sp>
      <p:sp>
        <p:nvSpPr>
          <p:cNvPr id="7" name="matched-controls">
            <a:extLst>
              <a:ext uri="{FF2B5EF4-FFF2-40B4-BE49-F238E27FC236}">
                <a16:creationId xmlns:a16="http://schemas.microsoft.com/office/drawing/2014/main" id="{EC3791AF-8921-4B03-95C7-F2472E5434EA}"/>
              </a:ext>
            </a:extLst>
          </p:cNvPr>
          <p:cNvSpPr>
            <a:spLocks noGrp="1"/>
          </p:cNvSpPr>
          <p:nvPr/>
        </p:nvSpPr>
        <p:spPr>
          <a:xfrm>
            <a:off x="552450" y="5810250"/>
            <a:ext cx="11087100" cy="381000"/>
          </a:xfrm>
          <a:prstGeom prst="rect">
            <a:avLst/>
          </a:prstGeom>
          <a:noFill/>
          <a:ln w="0">
            <a:noFill/>
          </a:ln>
        </p:spPr>
        <p:txBody>
          <a:bodyPr wrap="none" lIns="0" tIns="0" rIns="0" bIns="0" anchor="t">
            <a:noAutofit/>
          </a:bodyPr>
          <a:lstStyle/>
          <a:p>
            <a:pPr algn="l">
              <a:defRPr sz="1900" b="0">
                <a:solidFill>
                  <a:srgbClr val="53667B"/>
                </a:solidFill>
                <a:latin typeface="Arial"/>
                <a:ea typeface="Arial"/>
                <a:cs typeface="Arial"/>
              </a:defRPr>
            </a:pPr>
            <a:r>
              <a:rPr sz="1900" b="0">
                <a:solidFill>
                  <a:srgbClr val="53667B"/>
                </a:solidFill>
                <a:latin typeface="Arial"/>
                <a:ea typeface="Arial"/>
                <a:cs typeface="Arial"/>
              </a:rPr>
              <a:t>Matched task, training budgets and evaluation cases</a:t>
            </a:r>
          </a:p>
        </p:txBody>
      </p:sp>
    </p:spTree>
    <p:extLst>
      <p:ext uri="{BB962C8B-B14F-4D97-AF65-F5344CB8AC3E}">
        <p14:creationId xmlns:p14="http://schemas.microsoft.com/office/powerpoint/2010/main" val="1091561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588E94D7-169D-448A-A0DF-09B92802E10E}"/>
              </a:ext>
            </a:extLst>
          </p:cNvPr>
          <p:cNvSpPr>
            <a:spLocks noGrp="1"/>
          </p:cNvSpPr>
          <p:nvPr/>
        </p:nvSpPr>
        <p:spPr>
          <a:xfrm>
            <a:off x="552450" y="666750"/>
            <a:ext cx="11087100" cy="619125"/>
          </a:xfrm>
          <a:prstGeom prst="rect">
            <a:avLst/>
          </a:prstGeom>
          <a:noFill/>
          <a:ln w="0">
            <a:noFill/>
          </a:ln>
        </p:spPr>
        <p:txBody>
          <a:bodyPr wrap="none" lIns="0" tIns="0" rIns="0" bIns="0" anchor="t">
            <a:noAutofit/>
          </a:bodyPr>
          <a:lstStyle/>
          <a:p>
            <a:pPr algn="l">
              <a:defRPr sz="3100" b="1">
                <a:solidFill>
                  <a:srgbClr val="15283F"/>
                </a:solidFill>
                <a:latin typeface="Arial"/>
                <a:ea typeface="Arial"/>
                <a:cs typeface="Arial"/>
              </a:defRPr>
            </a:pPr>
            <a:r>
              <a:rPr sz="3100" b="1">
                <a:solidFill>
                  <a:srgbClr val="15283F"/>
                </a:solidFill>
                <a:latin typeface="Arial"/>
                <a:ea typeface="Arial"/>
                <a:cs typeface="Arial"/>
              </a:rPr>
              <a:t>Evaluation</a:t>
            </a:r>
          </a:p>
        </p:txBody>
      </p:sp>
      <p:sp>
        <p:nvSpPr>
          <p:cNvPr id="2" name="footer-rule">
            <a:extLst>
              <a:ext uri="{FF2B5EF4-FFF2-40B4-BE49-F238E27FC236}">
                <a16:creationId xmlns:a16="http://schemas.microsoft.com/office/drawing/2014/main" id="{B44BCDD5-E17E-498A-96A3-827441E6FDAA}"/>
              </a:ext>
            </a:extLst>
          </p:cNvPr>
          <p:cNvSpPr>
            <a:spLocks noGrp="1"/>
          </p:cNvSpPr>
          <p:nvPr/>
        </p:nvSpPr>
        <p:spPr>
          <a:xfrm>
            <a:off x="552450" y="6572250"/>
            <a:ext cx="11087100" cy="0"/>
          </a:xfrm>
          <a:prstGeom prst="line">
            <a:avLst/>
          </a:prstGeom>
          <a:noFill/>
          <a:ln w="9525">
            <a:solidFill>
              <a:srgbClr val="D7E0EA"/>
            </a:solidFill>
          </a:ln>
        </p:spPr>
        <p:txBody>
          <a:bodyPr/>
          <a:lstStyle/>
          <a:p>
            <a:endParaRPr lang="en-SG"/>
          </a:p>
        </p:txBody>
      </p:sp>
      <p:sp>
        <p:nvSpPr>
          <p:cNvPr id="3" name="page-number">
            <a:extLst>
              <a:ext uri="{FF2B5EF4-FFF2-40B4-BE49-F238E27FC236}">
                <a16:creationId xmlns:a16="http://schemas.microsoft.com/office/drawing/2014/main" id="{D74A40E0-9499-42B0-A456-2ED34D38F9FB}"/>
              </a:ext>
            </a:extLst>
          </p:cNvPr>
          <p:cNvSpPr>
            <a:spLocks noGrp="1"/>
          </p:cNvSpPr>
          <p:nvPr/>
        </p:nvSpPr>
        <p:spPr>
          <a:xfrm>
            <a:off x="10858500" y="6657975"/>
            <a:ext cx="781050" cy="142875"/>
          </a:xfrm>
          <a:prstGeom prst="rect">
            <a:avLst/>
          </a:prstGeom>
          <a:noFill/>
          <a:ln w="0">
            <a:noFill/>
          </a:ln>
        </p:spPr>
        <p:txBody>
          <a:bodyPr wrap="none" lIns="0" tIns="0" rIns="0" bIns="0" anchor="t">
            <a:noAutofit/>
          </a:bodyPr>
          <a:lstStyle/>
          <a:p>
            <a:pPr algn="r">
              <a:defRPr sz="840" b="0">
                <a:solidFill>
                  <a:srgbClr val="53667B"/>
                </a:solidFill>
                <a:latin typeface="Arial"/>
                <a:ea typeface="Arial"/>
                <a:cs typeface="Arial"/>
              </a:defRPr>
            </a:pPr>
            <a:r>
              <a:rPr sz="840" b="0">
                <a:solidFill>
                  <a:srgbClr val="53667B"/>
                </a:solidFill>
                <a:latin typeface="Arial"/>
                <a:ea typeface="Arial"/>
                <a:cs typeface="Arial"/>
              </a:rPr>
              <a:t>5 / 5</a:t>
            </a:r>
          </a:p>
        </p:txBody>
      </p:sp>
      <p:sp>
        <p:nvSpPr>
          <p:cNvPr id="4" name="metric-Complete-task success">
            <a:extLst>
              <a:ext uri="{FF2B5EF4-FFF2-40B4-BE49-F238E27FC236}">
                <a16:creationId xmlns:a16="http://schemas.microsoft.com/office/drawing/2014/main" id="{460F2360-1247-419F-9804-F6FFCCC95174}"/>
              </a:ext>
            </a:extLst>
          </p:cNvPr>
          <p:cNvSpPr>
            <a:spLocks noGrp="1"/>
          </p:cNvSpPr>
          <p:nvPr/>
        </p:nvSpPr>
        <p:spPr>
          <a:xfrm>
            <a:off x="552450" y="1981200"/>
            <a:ext cx="4362450" cy="476250"/>
          </a:xfrm>
          <a:prstGeom prst="rect">
            <a:avLst/>
          </a:prstGeom>
          <a:noFill/>
          <a:ln w="0">
            <a:noFill/>
          </a:ln>
        </p:spPr>
        <p:txBody>
          <a:bodyPr wrap="none" lIns="0" tIns="0" rIns="0" bIns="0" anchor="t">
            <a:noAutofit/>
          </a:bodyPr>
          <a:lstStyle/>
          <a:p>
            <a:pPr algn="l">
              <a:defRPr sz="2300" b="1">
                <a:solidFill>
                  <a:srgbClr val="087F83"/>
                </a:solidFill>
                <a:latin typeface="Arial"/>
                <a:ea typeface="Arial"/>
                <a:cs typeface="Arial"/>
              </a:defRPr>
            </a:pPr>
            <a:r>
              <a:rPr sz="2300" b="1">
                <a:solidFill>
                  <a:srgbClr val="087F83"/>
                </a:solidFill>
                <a:latin typeface="Arial"/>
                <a:ea typeface="Arial"/>
                <a:cs typeface="Arial"/>
              </a:rPr>
              <a:t>Complete-task success</a:t>
            </a:r>
          </a:p>
        </p:txBody>
      </p:sp>
      <p:sp>
        <p:nvSpPr>
          <p:cNvPr id="5" name="definition-Complete-task success">
            <a:extLst>
              <a:ext uri="{FF2B5EF4-FFF2-40B4-BE49-F238E27FC236}">
                <a16:creationId xmlns:a16="http://schemas.microsoft.com/office/drawing/2014/main" id="{D29269ED-78C4-496C-A469-B09FC42FFEAC}"/>
              </a:ext>
            </a:extLst>
          </p:cNvPr>
          <p:cNvSpPr>
            <a:spLocks noGrp="1"/>
          </p:cNvSpPr>
          <p:nvPr/>
        </p:nvSpPr>
        <p:spPr>
          <a:xfrm>
            <a:off x="5362575" y="1981200"/>
            <a:ext cx="6276975" cy="838200"/>
          </a:xfrm>
          <a:prstGeom prst="rect">
            <a:avLst/>
          </a:prstGeom>
          <a:noFill/>
          <a:ln w="0">
            <a:noFill/>
          </a:ln>
        </p:spPr>
        <p:txBody>
          <a:bodyPr wrap="none" lIns="0" tIns="0" rIns="0" bIns="0" anchor="t">
            <a:noAutofit/>
          </a:bodyPr>
          <a:lstStyle/>
          <a:p>
            <a:pPr algn="l">
              <a:defRPr sz="2100" b="0">
                <a:solidFill>
                  <a:srgbClr val="15283F"/>
                </a:solidFill>
                <a:latin typeface="Arial"/>
                <a:ea typeface="Arial"/>
                <a:cs typeface="Arial"/>
              </a:defRPr>
            </a:pPr>
            <a:r>
              <a:rPr sz="2100" b="0">
                <a:solidFill>
                  <a:srgbClr val="15283F"/>
                </a:solidFill>
                <a:latin typeface="Arial"/>
                <a:ea typeface="Arial"/>
                <a:cs typeface="Arial"/>
              </a:rPr>
              <a:t>Lift, transport, release</a:t>
            </a:r>
          </a:p>
          <a:p>
            <a:pPr algn="l">
              <a:defRPr sz="2100" b="0">
                <a:solidFill>
                  <a:srgbClr val="15283F"/>
                </a:solidFill>
                <a:latin typeface="Arial"/>
                <a:ea typeface="Arial"/>
                <a:cs typeface="Arial"/>
              </a:defRPr>
            </a:pPr>
            <a:r>
              <a:rPr sz="2100" b="0">
                <a:solidFill>
                  <a:srgbClr val="15283F"/>
                </a:solidFill>
                <a:latin typeface="Arial"/>
                <a:ea typeface="Arial"/>
                <a:cs typeface="Arial"/>
              </a:rPr>
              <a:t>and stable placement</a:t>
            </a:r>
          </a:p>
        </p:txBody>
      </p:sp>
      <p:sp>
        <p:nvSpPr>
          <p:cNvPr id="6" name="row-rule-208">
            <a:extLst>
              <a:ext uri="{FF2B5EF4-FFF2-40B4-BE49-F238E27FC236}">
                <a16:creationId xmlns:a16="http://schemas.microsoft.com/office/drawing/2014/main" id="{85339755-7C70-4D95-814C-B8F52F415D2D}"/>
              </a:ext>
            </a:extLst>
          </p:cNvPr>
          <p:cNvSpPr>
            <a:spLocks noGrp="1"/>
          </p:cNvSpPr>
          <p:nvPr/>
        </p:nvSpPr>
        <p:spPr>
          <a:xfrm>
            <a:off x="552450" y="2971800"/>
            <a:ext cx="11087100" cy="0"/>
          </a:xfrm>
          <a:prstGeom prst="line">
            <a:avLst/>
          </a:prstGeom>
          <a:noFill/>
          <a:ln w="9525">
            <a:solidFill>
              <a:srgbClr val="D7E0EA"/>
            </a:solidFill>
          </a:ln>
        </p:spPr>
        <p:txBody>
          <a:bodyPr/>
          <a:lstStyle/>
          <a:p>
            <a:endParaRPr lang="en-SG"/>
          </a:p>
        </p:txBody>
      </p:sp>
      <p:sp>
        <p:nvSpPr>
          <p:cNvPr id="7" name="metric-Learning efficiency">
            <a:extLst>
              <a:ext uri="{FF2B5EF4-FFF2-40B4-BE49-F238E27FC236}">
                <a16:creationId xmlns:a16="http://schemas.microsoft.com/office/drawing/2014/main" id="{6C54642D-21BC-4F05-97B2-52AF3593DB8F}"/>
              </a:ext>
            </a:extLst>
          </p:cNvPr>
          <p:cNvSpPr>
            <a:spLocks noGrp="1"/>
          </p:cNvSpPr>
          <p:nvPr/>
        </p:nvSpPr>
        <p:spPr>
          <a:xfrm>
            <a:off x="552450" y="3209925"/>
            <a:ext cx="4362450" cy="476250"/>
          </a:xfrm>
          <a:prstGeom prst="rect">
            <a:avLst/>
          </a:prstGeom>
          <a:noFill/>
          <a:ln w="0">
            <a:noFill/>
          </a:ln>
        </p:spPr>
        <p:txBody>
          <a:bodyPr wrap="none" lIns="0" tIns="0" rIns="0" bIns="0" anchor="t">
            <a:noAutofit/>
          </a:bodyPr>
          <a:lstStyle/>
          <a:p>
            <a:pPr algn="l">
              <a:defRPr sz="2300" b="1">
                <a:solidFill>
                  <a:srgbClr val="087F83"/>
                </a:solidFill>
                <a:latin typeface="Arial"/>
                <a:ea typeface="Arial"/>
                <a:cs typeface="Arial"/>
              </a:defRPr>
            </a:pPr>
            <a:r>
              <a:rPr sz="2300" b="1">
                <a:solidFill>
                  <a:srgbClr val="087F83"/>
                </a:solidFill>
                <a:latin typeface="Arial"/>
                <a:ea typeface="Arial"/>
                <a:cs typeface="Arial"/>
              </a:rPr>
              <a:t>Learning efficiency</a:t>
            </a:r>
          </a:p>
        </p:txBody>
      </p:sp>
      <p:sp>
        <p:nvSpPr>
          <p:cNvPr id="8" name="definition-Learning efficiency">
            <a:extLst>
              <a:ext uri="{FF2B5EF4-FFF2-40B4-BE49-F238E27FC236}">
                <a16:creationId xmlns:a16="http://schemas.microsoft.com/office/drawing/2014/main" id="{5C29D734-EA08-4148-8575-F6387C052D2D}"/>
              </a:ext>
            </a:extLst>
          </p:cNvPr>
          <p:cNvSpPr>
            <a:spLocks noGrp="1"/>
          </p:cNvSpPr>
          <p:nvPr/>
        </p:nvSpPr>
        <p:spPr>
          <a:xfrm>
            <a:off x="5362575" y="3209925"/>
            <a:ext cx="6276975" cy="838200"/>
          </a:xfrm>
          <a:prstGeom prst="rect">
            <a:avLst/>
          </a:prstGeom>
          <a:noFill/>
          <a:ln w="0">
            <a:noFill/>
          </a:ln>
        </p:spPr>
        <p:txBody>
          <a:bodyPr wrap="none" lIns="0" tIns="0" rIns="0" bIns="0" anchor="t">
            <a:noAutofit/>
          </a:bodyPr>
          <a:lstStyle/>
          <a:p>
            <a:pPr algn="l">
              <a:defRPr sz="2100" b="0">
                <a:solidFill>
                  <a:srgbClr val="15283F"/>
                </a:solidFill>
                <a:latin typeface="Arial"/>
                <a:ea typeface="Arial"/>
                <a:cs typeface="Arial"/>
              </a:defRPr>
            </a:pPr>
            <a:r>
              <a:rPr sz="2100" b="0">
                <a:solidFill>
                  <a:srgbClr val="15283F"/>
                </a:solidFill>
                <a:latin typeface="Arial"/>
                <a:ea typeface="Arial"/>
                <a:cs typeface="Arial"/>
              </a:rPr>
              <a:t>Success versus total</a:t>
            </a:r>
          </a:p>
          <a:p>
            <a:pPr algn="l">
              <a:defRPr sz="2100" b="0">
                <a:solidFill>
                  <a:srgbClr val="15283F"/>
                </a:solidFill>
                <a:latin typeface="Arial"/>
                <a:ea typeface="Arial"/>
                <a:cs typeface="Arial"/>
              </a:defRPr>
            </a:pPr>
            <a:r>
              <a:rPr sz="2100" b="0">
                <a:solidFill>
                  <a:srgbClr val="15283F"/>
                </a:solidFill>
                <a:latin typeface="Arial"/>
                <a:ea typeface="Arial"/>
                <a:cs typeface="Arial"/>
              </a:rPr>
              <a:t>training interactions</a:t>
            </a:r>
          </a:p>
        </p:txBody>
      </p:sp>
      <p:sp>
        <p:nvSpPr>
          <p:cNvPr id="9" name="row-rule-337">
            <a:extLst>
              <a:ext uri="{FF2B5EF4-FFF2-40B4-BE49-F238E27FC236}">
                <a16:creationId xmlns:a16="http://schemas.microsoft.com/office/drawing/2014/main" id="{EB19CA0A-6C22-4E46-BD63-4FAD4D6627B5}"/>
              </a:ext>
            </a:extLst>
          </p:cNvPr>
          <p:cNvSpPr>
            <a:spLocks noGrp="1"/>
          </p:cNvSpPr>
          <p:nvPr/>
        </p:nvSpPr>
        <p:spPr>
          <a:xfrm>
            <a:off x="552450" y="4200525"/>
            <a:ext cx="11087100" cy="0"/>
          </a:xfrm>
          <a:prstGeom prst="line">
            <a:avLst/>
          </a:prstGeom>
          <a:noFill/>
          <a:ln w="9525">
            <a:solidFill>
              <a:srgbClr val="D7E0EA"/>
            </a:solidFill>
          </a:ln>
        </p:spPr>
        <p:txBody>
          <a:bodyPr/>
          <a:lstStyle/>
          <a:p>
            <a:endParaRPr lang="en-SG"/>
          </a:p>
        </p:txBody>
      </p:sp>
      <p:sp>
        <p:nvSpPr>
          <p:cNvPr id="10" name="metric-Failure analysis">
            <a:extLst>
              <a:ext uri="{FF2B5EF4-FFF2-40B4-BE49-F238E27FC236}">
                <a16:creationId xmlns:a16="http://schemas.microsoft.com/office/drawing/2014/main" id="{F5C9249B-22ED-4B01-AABD-D236CFF9B5FB}"/>
              </a:ext>
            </a:extLst>
          </p:cNvPr>
          <p:cNvSpPr>
            <a:spLocks noGrp="1"/>
          </p:cNvSpPr>
          <p:nvPr/>
        </p:nvSpPr>
        <p:spPr>
          <a:xfrm>
            <a:off x="552450" y="4438650"/>
            <a:ext cx="4362450" cy="476250"/>
          </a:xfrm>
          <a:prstGeom prst="rect">
            <a:avLst/>
          </a:prstGeom>
          <a:noFill/>
          <a:ln w="0">
            <a:noFill/>
          </a:ln>
        </p:spPr>
        <p:txBody>
          <a:bodyPr wrap="none" lIns="0" tIns="0" rIns="0" bIns="0" anchor="t">
            <a:noAutofit/>
          </a:bodyPr>
          <a:lstStyle/>
          <a:p>
            <a:pPr algn="l">
              <a:defRPr sz="2300" b="1">
                <a:solidFill>
                  <a:srgbClr val="087F83"/>
                </a:solidFill>
                <a:latin typeface="Arial"/>
                <a:ea typeface="Arial"/>
                <a:cs typeface="Arial"/>
              </a:defRPr>
            </a:pPr>
            <a:r>
              <a:rPr sz="2300" b="1">
                <a:solidFill>
                  <a:srgbClr val="087F83"/>
                </a:solidFill>
                <a:latin typeface="Arial"/>
                <a:ea typeface="Arial"/>
                <a:cs typeface="Arial"/>
              </a:rPr>
              <a:t>Failure analysis</a:t>
            </a:r>
          </a:p>
        </p:txBody>
      </p:sp>
      <p:sp>
        <p:nvSpPr>
          <p:cNvPr id="11" name="definition-Failure analysis">
            <a:extLst>
              <a:ext uri="{FF2B5EF4-FFF2-40B4-BE49-F238E27FC236}">
                <a16:creationId xmlns:a16="http://schemas.microsoft.com/office/drawing/2014/main" id="{86068B19-C674-44E2-A724-AED62D229048}"/>
              </a:ext>
            </a:extLst>
          </p:cNvPr>
          <p:cNvSpPr>
            <a:spLocks noGrp="1"/>
          </p:cNvSpPr>
          <p:nvPr/>
        </p:nvSpPr>
        <p:spPr>
          <a:xfrm>
            <a:off x="5362575" y="4438650"/>
            <a:ext cx="6276975" cy="838200"/>
          </a:xfrm>
          <a:prstGeom prst="rect">
            <a:avLst/>
          </a:prstGeom>
          <a:noFill/>
          <a:ln w="0">
            <a:noFill/>
          </a:ln>
        </p:spPr>
        <p:txBody>
          <a:bodyPr wrap="none" lIns="0" tIns="0" rIns="0" bIns="0" anchor="t">
            <a:noAutofit/>
          </a:bodyPr>
          <a:lstStyle/>
          <a:p>
            <a:pPr algn="l">
              <a:defRPr sz="2100" b="0">
                <a:solidFill>
                  <a:srgbClr val="15283F"/>
                </a:solidFill>
                <a:latin typeface="Arial"/>
                <a:ea typeface="Arial"/>
                <a:cs typeface="Arial"/>
              </a:defRPr>
            </a:pPr>
            <a:r>
              <a:rPr sz="2100" b="0">
                <a:solidFill>
                  <a:srgbClr val="15283F"/>
                </a:solidFill>
                <a:latin typeface="Arial"/>
                <a:ea typeface="Arial"/>
                <a:cs typeface="Arial"/>
              </a:rPr>
              <a:t>Grasping, navigation,</a:t>
            </a:r>
          </a:p>
          <a:p>
            <a:pPr algn="l">
              <a:defRPr sz="2100" b="0">
                <a:solidFill>
                  <a:srgbClr val="15283F"/>
                </a:solidFill>
                <a:latin typeface="Arial"/>
                <a:ea typeface="Arial"/>
                <a:cs typeface="Arial"/>
              </a:defRPr>
            </a:pPr>
            <a:r>
              <a:rPr sz="2100" b="0">
                <a:solidFill>
                  <a:srgbClr val="15283F"/>
                </a:solidFill>
                <a:latin typeface="Arial"/>
                <a:ea typeface="Arial"/>
                <a:cs typeface="Arial"/>
              </a:rPr>
              <a:t>drops and placement</a:t>
            </a:r>
          </a:p>
        </p:txBody>
      </p:sp>
      <p:sp>
        <p:nvSpPr>
          <p:cNvPr id="12" name="evaluation-protocol">
            <a:extLst>
              <a:ext uri="{FF2B5EF4-FFF2-40B4-BE49-F238E27FC236}">
                <a16:creationId xmlns:a16="http://schemas.microsoft.com/office/drawing/2014/main" id="{71DAFBE6-036B-477A-9F55-411B9F4CC39B}"/>
              </a:ext>
            </a:extLst>
          </p:cNvPr>
          <p:cNvSpPr>
            <a:spLocks noGrp="1"/>
          </p:cNvSpPr>
          <p:nvPr/>
        </p:nvSpPr>
        <p:spPr>
          <a:xfrm>
            <a:off x="552450" y="5810250"/>
            <a:ext cx="11087100" cy="419100"/>
          </a:xfrm>
          <a:prstGeom prst="rect">
            <a:avLst/>
          </a:prstGeom>
          <a:noFill/>
          <a:ln w="0">
            <a:noFill/>
          </a:ln>
        </p:spPr>
        <p:txBody>
          <a:bodyPr wrap="none" lIns="0" tIns="0" rIns="0" bIns="0" anchor="t">
            <a:noAutofit/>
          </a:bodyPr>
          <a:lstStyle/>
          <a:p>
            <a:pPr algn="l">
              <a:defRPr sz="1900" b="0">
                <a:solidFill>
                  <a:srgbClr val="53667B"/>
                </a:solidFill>
                <a:latin typeface="Arial"/>
                <a:ea typeface="Arial"/>
                <a:cs typeface="Arial"/>
              </a:defRPr>
            </a:pPr>
            <a:endParaRPr sz="1900" b="0" dirty="0">
              <a:solidFill>
                <a:srgbClr val="53667B"/>
              </a:solidFill>
              <a:latin typeface="Arial"/>
              <a:ea typeface="Arial"/>
              <a:cs typeface="Arial"/>
            </a:endParaRPr>
          </a:p>
        </p:txBody>
      </p:sp>
    </p:spTree>
    <p:extLst>
      <p:ext uri="{BB962C8B-B14F-4D97-AF65-F5344CB8AC3E}">
        <p14:creationId xmlns:p14="http://schemas.microsoft.com/office/powerpoint/2010/main" val="1212388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C48490D3-7501-7FA4-63E2-3E7F283E01C0}"/>
            </a:ext>
          </a:extLst>
        </p:cNvPr>
        <p:cNvGrpSpPr/>
        <p:nvPr/>
      </p:nvGrpSpPr>
      <p:grpSpPr>
        <a:xfrm>
          <a:off x="0" y="0"/>
          <a:ext cx="0" cy="0"/>
          <a:chOff x="0" y="0"/>
          <a:chExt cx="0" cy="0"/>
        </a:xfrm>
      </p:grpSpPr>
      <p:sp>
        <p:nvSpPr>
          <p:cNvPr id="18" name="title">
            <a:extLst>
              <a:ext uri="{FF2B5EF4-FFF2-40B4-BE49-F238E27FC236}">
                <a16:creationId xmlns:a16="http://schemas.microsoft.com/office/drawing/2014/main" id="{C9FDF7D2-0217-A872-BA4C-CE270FCDB8C6}"/>
              </a:ext>
            </a:extLst>
          </p:cNvPr>
          <p:cNvSpPr>
            <a:spLocks noGrp="1"/>
          </p:cNvSpPr>
          <p:nvPr/>
        </p:nvSpPr>
        <p:spPr>
          <a:xfrm>
            <a:off x="552450" y="666750"/>
            <a:ext cx="11087100" cy="619125"/>
          </a:xfrm>
          <a:prstGeom prst="rect">
            <a:avLst/>
          </a:prstGeom>
          <a:noFill/>
          <a:ln w="0">
            <a:noFill/>
          </a:ln>
        </p:spPr>
        <p:txBody>
          <a:bodyPr wrap="none" lIns="0" tIns="0" rIns="0" bIns="0" anchor="t">
            <a:noAutofit/>
          </a:bodyPr>
          <a:lstStyle/>
          <a:p>
            <a:pPr algn="l">
              <a:defRPr sz="3100" b="1">
                <a:solidFill>
                  <a:srgbClr val="15283F"/>
                </a:solidFill>
                <a:latin typeface="Arial"/>
                <a:ea typeface="Arial"/>
                <a:cs typeface="Arial"/>
              </a:defRPr>
            </a:pPr>
            <a:r>
              <a:rPr lang="en-SG" sz="3100" b="1" dirty="0">
                <a:solidFill>
                  <a:srgbClr val="15283F"/>
                </a:solidFill>
                <a:latin typeface="Arial"/>
                <a:ea typeface="Arial"/>
                <a:cs typeface="Arial"/>
              </a:rPr>
              <a:t>Project Timeline</a:t>
            </a:r>
            <a:endParaRPr sz="3100" b="1" dirty="0">
              <a:solidFill>
                <a:srgbClr val="15283F"/>
              </a:solidFill>
              <a:latin typeface="Arial"/>
              <a:ea typeface="Arial"/>
              <a:cs typeface="Arial"/>
            </a:endParaRPr>
          </a:p>
        </p:txBody>
      </p:sp>
      <p:sp>
        <p:nvSpPr>
          <p:cNvPr id="2" name="footer-rule">
            <a:extLst>
              <a:ext uri="{FF2B5EF4-FFF2-40B4-BE49-F238E27FC236}">
                <a16:creationId xmlns:a16="http://schemas.microsoft.com/office/drawing/2014/main" id="{196AEC14-648F-689B-A6FF-4C6751111847}"/>
              </a:ext>
            </a:extLst>
          </p:cNvPr>
          <p:cNvSpPr>
            <a:spLocks noGrp="1"/>
          </p:cNvSpPr>
          <p:nvPr/>
        </p:nvSpPr>
        <p:spPr>
          <a:xfrm>
            <a:off x="552450" y="6572250"/>
            <a:ext cx="11087100" cy="0"/>
          </a:xfrm>
          <a:prstGeom prst="line">
            <a:avLst/>
          </a:prstGeom>
          <a:noFill/>
          <a:ln w="9525">
            <a:solidFill>
              <a:srgbClr val="D7E0EA"/>
            </a:solidFill>
          </a:ln>
        </p:spPr>
        <p:txBody>
          <a:bodyPr/>
          <a:lstStyle/>
          <a:p>
            <a:endParaRPr lang="en-SG"/>
          </a:p>
        </p:txBody>
      </p:sp>
      <p:sp>
        <p:nvSpPr>
          <p:cNvPr id="3" name="page-number">
            <a:extLst>
              <a:ext uri="{FF2B5EF4-FFF2-40B4-BE49-F238E27FC236}">
                <a16:creationId xmlns:a16="http://schemas.microsoft.com/office/drawing/2014/main" id="{2E33C9BE-60BC-CFEB-E4D3-F7353F5A1757}"/>
              </a:ext>
            </a:extLst>
          </p:cNvPr>
          <p:cNvSpPr>
            <a:spLocks noGrp="1"/>
          </p:cNvSpPr>
          <p:nvPr/>
        </p:nvSpPr>
        <p:spPr>
          <a:xfrm>
            <a:off x="10858500" y="6657975"/>
            <a:ext cx="781050" cy="142875"/>
          </a:xfrm>
          <a:prstGeom prst="rect">
            <a:avLst/>
          </a:prstGeom>
          <a:noFill/>
          <a:ln w="0">
            <a:noFill/>
          </a:ln>
        </p:spPr>
        <p:txBody>
          <a:bodyPr wrap="none" lIns="0" tIns="0" rIns="0" bIns="0" anchor="t">
            <a:noAutofit/>
          </a:bodyPr>
          <a:lstStyle/>
          <a:p>
            <a:pPr algn="r">
              <a:defRPr sz="840" b="0">
                <a:solidFill>
                  <a:srgbClr val="53667B"/>
                </a:solidFill>
                <a:latin typeface="Arial"/>
                <a:ea typeface="Arial"/>
                <a:cs typeface="Arial"/>
              </a:defRPr>
            </a:pPr>
            <a:r>
              <a:rPr sz="840" b="0">
                <a:solidFill>
                  <a:srgbClr val="53667B"/>
                </a:solidFill>
                <a:latin typeface="Arial"/>
                <a:ea typeface="Arial"/>
                <a:cs typeface="Arial"/>
              </a:rPr>
              <a:t>2 / 5</a:t>
            </a:r>
          </a:p>
        </p:txBody>
      </p:sp>
      <p:graphicFrame>
        <p:nvGraphicFramePr>
          <p:cNvPr id="15" name="Table 14">
            <a:extLst>
              <a:ext uri="{FF2B5EF4-FFF2-40B4-BE49-F238E27FC236}">
                <a16:creationId xmlns:a16="http://schemas.microsoft.com/office/drawing/2014/main" id="{B7BE8A7B-9199-7606-F533-E6A68E38AA10}"/>
              </a:ext>
            </a:extLst>
          </p:cNvPr>
          <p:cNvGraphicFramePr>
            <a:graphicFrameLocks noGrp="1"/>
          </p:cNvGraphicFramePr>
          <p:nvPr>
            <p:extLst>
              <p:ext uri="{D42A27DB-BD31-4B8C-83A1-F6EECF244321}">
                <p14:modId xmlns:p14="http://schemas.microsoft.com/office/powerpoint/2010/main" val="1123273137"/>
              </p:ext>
            </p:extLst>
          </p:nvPr>
        </p:nvGraphicFramePr>
        <p:xfrm>
          <a:off x="552450" y="1285875"/>
          <a:ext cx="9219921" cy="4674765"/>
        </p:xfrm>
        <a:graphic>
          <a:graphicData uri="http://schemas.openxmlformats.org/drawingml/2006/table">
            <a:tbl>
              <a:tblPr>
                <a:tableStyleId>{5C22544A-7EE6-4342-B048-85BDC9FD1C3A}</a:tableStyleId>
              </a:tblPr>
              <a:tblGrid>
                <a:gridCol w="3073307">
                  <a:extLst>
                    <a:ext uri="{9D8B030D-6E8A-4147-A177-3AD203B41FA5}">
                      <a16:colId xmlns:a16="http://schemas.microsoft.com/office/drawing/2014/main" val="4143154158"/>
                    </a:ext>
                  </a:extLst>
                </a:gridCol>
                <a:gridCol w="3073307">
                  <a:extLst>
                    <a:ext uri="{9D8B030D-6E8A-4147-A177-3AD203B41FA5}">
                      <a16:colId xmlns:a16="http://schemas.microsoft.com/office/drawing/2014/main" val="1306529326"/>
                    </a:ext>
                  </a:extLst>
                </a:gridCol>
                <a:gridCol w="3073307">
                  <a:extLst>
                    <a:ext uri="{9D8B030D-6E8A-4147-A177-3AD203B41FA5}">
                      <a16:colId xmlns:a16="http://schemas.microsoft.com/office/drawing/2014/main" val="136701356"/>
                    </a:ext>
                  </a:extLst>
                </a:gridCol>
              </a:tblGrid>
              <a:tr h="255128">
                <a:tc>
                  <a:txBody>
                    <a:bodyPr/>
                    <a:lstStyle/>
                    <a:p>
                      <a:pPr>
                        <a:buNone/>
                      </a:pPr>
                      <a:r>
                        <a:rPr lang="en-SG" sz="1400"/>
                        <a:t>Period</a:t>
                      </a:r>
                    </a:p>
                  </a:txBody>
                  <a:tcPr marL="61286" marR="61286" marT="30643" marB="30643" anchor="ctr"/>
                </a:tc>
                <a:tc>
                  <a:txBody>
                    <a:bodyPr/>
                    <a:lstStyle/>
                    <a:p>
                      <a:pPr>
                        <a:buNone/>
                      </a:pPr>
                      <a:r>
                        <a:rPr lang="en-SG" sz="1400"/>
                        <a:t>Planned work</a:t>
                      </a:r>
                    </a:p>
                  </a:txBody>
                  <a:tcPr marL="61286" marR="61286" marT="30643" marB="30643" anchor="ctr"/>
                </a:tc>
                <a:tc>
                  <a:txBody>
                    <a:bodyPr/>
                    <a:lstStyle/>
                    <a:p>
                      <a:pPr>
                        <a:buNone/>
                      </a:pPr>
                      <a:r>
                        <a:rPr lang="en-SG" sz="1400"/>
                        <a:t>Completion milestone</a:t>
                      </a:r>
                    </a:p>
                  </a:txBody>
                  <a:tcPr marL="61286" marR="61286" marT="30643" marB="30643" anchor="ctr"/>
                </a:tc>
                <a:extLst>
                  <a:ext uri="{0D108BD9-81ED-4DB2-BD59-A6C34878D82A}">
                    <a16:rowId xmlns:a16="http://schemas.microsoft.com/office/drawing/2014/main" val="3029229527"/>
                  </a:ext>
                </a:extLst>
              </a:tr>
              <a:tr h="1247795">
                <a:tc>
                  <a:txBody>
                    <a:bodyPr/>
                    <a:lstStyle/>
                    <a:p>
                      <a:pPr>
                        <a:buNone/>
                      </a:pPr>
                      <a:r>
                        <a:rPr lang="en-SG" sz="1400" dirty="0"/>
                        <a:t>Setup and feasibility</a:t>
                      </a:r>
                    </a:p>
                  </a:txBody>
                  <a:tcPr marL="61286" marR="61286" marT="30643" marB="30643" anchor="ctr"/>
                </a:tc>
                <a:tc>
                  <a:txBody>
                    <a:bodyPr/>
                    <a:lstStyle/>
                    <a:p>
                      <a:pPr>
                        <a:buNone/>
                      </a:pPr>
                      <a:r>
                        <a:rPr lang="en-SG" sz="1400"/>
                        <a:t>Validate the simulator, observations, actions, rewards and success criteria. Choose one specific gripper modification. Run short training pilots to estimate computing requirements.</a:t>
                      </a:r>
                    </a:p>
                  </a:txBody>
                  <a:tcPr marL="61286" marR="61286" marT="30643" marB="30643" anchor="ctr"/>
                </a:tc>
                <a:tc>
                  <a:txBody>
                    <a:bodyPr/>
                    <a:lstStyle/>
                    <a:p>
                      <a:pPr>
                        <a:buNone/>
                      </a:pPr>
                      <a:r>
                        <a:rPr lang="en-SG" sz="1400"/>
                        <a:t>A physically workable task, evaluation procedure and realistic training budget.</a:t>
                      </a:r>
                    </a:p>
                  </a:txBody>
                  <a:tcPr marL="61286" marR="61286" marT="30643" marB="30643" anchor="ctr"/>
                </a:tc>
                <a:extLst>
                  <a:ext uri="{0D108BD9-81ED-4DB2-BD59-A6C34878D82A}">
                    <a16:rowId xmlns:a16="http://schemas.microsoft.com/office/drawing/2014/main" val="2990373655"/>
                  </a:ext>
                </a:extLst>
              </a:tr>
              <a:tr h="1247795">
                <a:tc>
                  <a:txBody>
                    <a:bodyPr/>
                    <a:lstStyle/>
                    <a:p>
                      <a:pPr>
                        <a:buNone/>
                      </a:pPr>
                      <a:r>
                        <a:rPr lang="en-SG" sz="1400" dirty="0"/>
                        <a:t>Skill training and integration</a:t>
                      </a:r>
                    </a:p>
                  </a:txBody>
                  <a:tcPr marL="61286" marR="61286" marT="30643" marB="30643" anchor="ctr"/>
                </a:tc>
                <a:tc>
                  <a:txBody>
                    <a:bodyPr/>
                    <a:lstStyle/>
                    <a:p>
                      <a:pPr>
                        <a:buNone/>
                      </a:pPr>
                      <a:r>
                        <a:rPr lang="en-SG" sz="1400"/>
                        <a:t>Develop grasping, navigation and placement policies with curricula. Connect them using explicit switching conditions in the fixed supervisor. Test handoffs between skills.</a:t>
                      </a:r>
                    </a:p>
                  </a:txBody>
                  <a:tcPr marL="61286" marR="61286" marT="30643" marB="30643" anchor="ctr"/>
                </a:tc>
                <a:tc>
                  <a:txBody>
                    <a:bodyPr/>
                    <a:lstStyle/>
                    <a:p>
                      <a:pPr>
                        <a:buNone/>
                      </a:pPr>
                      <a:r>
                        <a:rPr lang="en-SG" sz="1400"/>
                        <a:t>One working system that completes the entire task repeatedly.</a:t>
                      </a:r>
                    </a:p>
                  </a:txBody>
                  <a:tcPr marL="61286" marR="61286" marT="30643" marB="30643" anchor="ctr"/>
                </a:tc>
                <a:extLst>
                  <a:ext uri="{0D108BD9-81ED-4DB2-BD59-A6C34878D82A}">
                    <a16:rowId xmlns:a16="http://schemas.microsoft.com/office/drawing/2014/main" val="1552712744"/>
                  </a:ext>
                </a:extLst>
              </a:tr>
              <a:tr h="1050774">
                <a:tc>
                  <a:txBody>
                    <a:bodyPr/>
                    <a:lstStyle/>
                    <a:p>
                      <a:pPr>
                        <a:buNone/>
                      </a:pPr>
                      <a:r>
                        <a:rPr lang="en-SG" sz="1400" dirty="0"/>
                        <a:t>Controlled experiments</a:t>
                      </a:r>
                    </a:p>
                  </a:txBody>
                  <a:tcPr marL="61286" marR="61286" marT="30643" marB="30643" anchor="ctr"/>
                </a:tc>
                <a:tc>
                  <a:txBody>
                    <a:bodyPr/>
                    <a:lstStyle/>
                    <a:p>
                      <a:pPr>
                        <a:buNone/>
                      </a:pPr>
                      <a:r>
                        <a:rPr lang="en-SG" sz="1400"/>
                        <a:t>Freeze settings and run SAC+HER and TD3+HER with both grippers and three seeds per condition. Evaluate using the same held-out starts and goals.</a:t>
                      </a:r>
                    </a:p>
                  </a:txBody>
                  <a:tcPr marL="61286" marR="61286" marT="30643" marB="30643" anchor="ctr"/>
                </a:tc>
                <a:tc>
                  <a:txBody>
                    <a:bodyPr/>
                    <a:lstStyle/>
                    <a:p>
                      <a:pPr>
                        <a:buNone/>
                      </a:pPr>
                      <a:r>
                        <a:rPr lang="en-SG" sz="1400"/>
                        <a:t>Completed experiments, saved models and evaluation logs.</a:t>
                      </a:r>
                    </a:p>
                  </a:txBody>
                  <a:tcPr marL="61286" marR="61286" marT="30643" marB="30643" anchor="ctr"/>
                </a:tc>
                <a:extLst>
                  <a:ext uri="{0D108BD9-81ED-4DB2-BD59-A6C34878D82A}">
                    <a16:rowId xmlns:a16="http://schemas.microsoft.com/office/drawing/2014/main" val="2138672739"/>
                  </a:ext>
                </a:extLst>
              </a:tr>
              <a:tr h="853755">
                <a:tc>
                  <a:txBody>
                    <a:bodyPr/>
                    <a:lstStyle/>
                    <a:p>
                      <a:pPr>
                        <a:buNone/>
                      </a:pPr>
                      <a:r>
                        <a:rPr lang="en-SG" sz="1400" dirty="0"/>
                        <a:t>Analysis and deliverables</a:t>
                      </a:r>
                    </a:p>
                  </a:txBody>
                  <a:tcPr marL="61286" marR="61286" marT="30643" marB="30643" anchor="ctr"/>
                </a:tc>
                <a:tc>
                  <a:txBody>
                    <a:bodyPr/>
                    <a:lstStyle/>
                    <a:p>
                      <a:pPr>
                        <a:buNone/>
                      </a:pPr>
                      <a:r>
                        <a:rPr lang="en-SG" sz="1400"/>
                        <a:t>Compare performance, investigate failures, prepare figures, and complete the report and demonstration.</a:t>
                      </a:r>
                    </a:p>
                  </a:txBody>
                  <a:tcPr marL="61286" marR="61286" marT="30643" marB="30643" anchor="ctr"/>
                </a:tc>
                <a:tc>
                  <a:txBody>
                    <a:bodyPr/>
                    <a:lstStyle/>
                    <a:p>
                      <a:pPr>
                        <a:buNone/>
                      </a:pPr>
                      <a:r>
                        <a:rPr lang="en-SG" sz="1400" dirty="0"/>
                        <a:t>Submission-ready results and demonstration.</a:t>
                      </a:r>
                    </a:p>
                  </a:txBody>
                  <a:tcPr marL="61286" marR="61286" marT="30643" marB="30643" anchor="ctr"/>
                </a:tc>
                <a:extLst>
                  <a:ext uri="{0D108BD9-81ED-4DB2-BD59-A6C34878D82A}">
                    <a16:rowId xmlns:a16="http://schemas.microsoft.com/office/drawing/2014/main" val="2963331376"/>
                  </a:ext>
                </a:extLst>
              </a:tr>
            </a:tbl>
          </a:graphicData>
        </a:graphic>
      </p:graphicFrame>
    </p:spTree>
    <p:extLst>
      <p:ext uri="{BB962C8B-B14F-4D97-AF65-F5344CB8AC3E}">
        <p14:creationId xmlns:p14="http://schemas.microsoft.com/office/powerpoint/2010/main" val="3127837988"/>
      </p:ext>
    </p:extLst>
  </p:cSld>
  <p:clrMapOvr>
    <a:masterClrMapping/>
  </p:clrMapOvr>
</p:sld>
</file>

<file path=ppt/theme/theme1.xml><?xml version="1.0" encoding="utf-8"?>
<a:theme xmlns:a="http://schemas.openxmlformats.org/drawingml/2006/main" name="ChatGPT">
  <a:themeElements>
    <a:clrScheme name="Academic navy and teal">
      <a:dk1>
        <a:srgbClr val="102338"/>
      </a:dk1>
      <a:lt1>
        <a:srgbClr val="FFFFFF"/>
      </a:lt1>
      <a:dk2>
        <a:srgbClr val="15283F"/>
      </a:dk2>
      <a:lt2>
        <a:srgbClr val="F7F9FC"/>
      </a:lt2>
      <a:accent1>
        <a:srgbClr val="087F83"/>
      </a:accent1>
      <a:accent2>
        <a:srgbClr val="4366A8"/>
      </a:accent2>
      <a:accent3>
        <a:srgbClr val="B46D16"/>
      </a:accent3>
      <a:accent4>
        <a:srgbClr val="699AB0"/>
      </a:accent4>
      <a:accent5>
        <a:srgbClr val="617188"/>
      </a:accent5>
      <a:accent6>
        <a:srgbClr val="70AFA7"/>
      </a:accent6>
      <a:hlink>
        <a:srgbClr val="4366A8"/>
      </a:hlink>
      <a:folHlink>
        <a:srgbClr val="087F83"/>
      </a:folHlink>
    </a:clrScheme>
    <a:fontScheme name="Office">
      <a:majorFont>
        <a:latin typeface="Calibri Light"/>
        <a:ea typeface="Calibri Light"/>
        <a:cs typeface="Calibri Light"/>
      </a:majorFont>
      <a:minorFont>
        <a:latin typeface="Calibri"/>
        <a:ea typeface="Calibri"/>
        <a:cs typeface="Calibri"/>
      </a:minorFont>
    </a:fontScheme>
    <a:fmtScheme name="Academic navy and te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Academic navy and teal">
      <a:dk1>
        <a:srgbClr val="102338"/>
      </a:dk1>
      <a:lt1>
        <a:srgbClr val="FFFFFF"/>
      </a:lt1>
      <a:dk2>
        <a:srgbClr val="15283F"/>
      </a:dk2>
      <a:lt2>
        <a:srgbClr val="F7F9FC"/>
      </a:lt2>
      <a:accent1>
        <a:srgbClr val="087F83"/>
      </a:accent1>
      <a:accent2>
        <a:srgbClr val="4366A8"/>
      </a:accent2>
      <a:accent3>
        <a:srgbClr val="B46D16"/>
      </a:accent3>
      <a:accent4>
        <a:srgbClr val="699AB0"/>
      </a:accent4>
      <a:accent5>
        <a:srgbClr val="617188"/>
      </a:accent5>
      <a:accent6>
        <a:srgbClr val="70AFA7"/>
      </a:accent6>
      <a:hlink>
        <a:srgbClr val="4366A8"/>
      </a:hlink>
      <a:folHlink>
        <a:srgbClr val="087F83"/>
      </a:folHlink>
    </a:clrScheme>
    <a:fontScheme name="Office">
      <a:majorFont>
        <a:latin typeface="Calibri Light"/>
        <a:ea typeface="Calibri Light"/>
        <a:cs typeface="Calibri Light"/>
      </a:majorFont>
      <a:minorFont>
        <a:latin typeface="Calibri"/>
        <a:ea typeface="Calibri"/>
        <a:cs typeface="Calibri"/>
      </a:minorFont>
    </a:fontScheme>
    <a:fmtScheme name="Academic navy and te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1071</Words>
  <Application>Microsoft Office PowerPoint</Application>
  <DocSecurity>0</DocSecurity>
  <PresentationFormat>Widescreen</PresentationFormat>
  <Paragraphs>108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Elston Eng Shi Yang</cp:lastModifiedBy>
  <cp:revision>1</cp:revision>
  <dcterms:created xsi:type="dcterms:W3CDTF">2026-09-19T10:37:33Z</dcterms:created>
  <dcterms:modified xsi:type="dcterms:W3CDTF">2026-09-26T14:59:42Z</dcterms:modified>
</cp:coreProperties>
</file>